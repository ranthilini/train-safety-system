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Open Sauce" charset="1" panose="00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8162" y="0"/>
            <a:ext cx="6967153" cy="13373228"/>
            <a:chOff x="0" y="0"/>
            <a:chExt cx="1834970" cy="3522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4970" cy="3522167"/>
            </a:xfrm>
            <a:custGeom>
              <a:avLst/>
              <a:gdLst/>
              <a:ahLst/>
              <a:cxnLst/>
              <a:rect r="r" b="b" t="t" l="l"/>
              <a:pathLst>
                <a:path h="3522167" w="1834970">
                  <a:moveTo>
                    <a:pt x="0" y="0"/>
                  </a:moveTo>
                  <a:lnTo>
                    <a:pt x="1834970" y="0"/>
                  </a:lnTo>
                  <a:lnTo>
                    <a:pt x="1834970" y="3522167"/>
                  </a:lnTo>
                  <a:lnTo>
                    <a:pt x="0" y="3522167"/>
                  </a:lnTo>
                  <a:close/>
                </a:path>
              </a:pathLst>
            </a:custGeom>
            <a:solidFill>
              <a:srgbClr val="0018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34970" cy="356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5947765" cy="8229600"/>
            <a:chOff x="0" y="0"/>
            <a:chExt cx="921464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1464" cy="1274980"/>
            </a:xfrm>
            <a:custGeom>
              <a:avLst/>
              <a:gdLst/>
              <a:ahLst/>
              <a:cxnLst/>
              <a:rect r="r" b="b" t="t" l="l"/>
              <a:pathLst>
                <a:path h="1274980" w="921464">
                  <a:moveTo>
                    <a:pt x="0" y="0"/>
                  </a:moveTo>
                  <a:lnTo>
                    <a:pt x="921464" y="0"/>
                  </a:lnTo>
                  <a:lnTo>
                    <a:pt x="92146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45603" t="0" r="-4560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476600" y="208915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63400" y="1898650"/>
            <a:ext cx="8566721" cy="248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b="true">
                <a:solidFill>
                  <a:srgbClr val="001886"/>
                </a:solidFill>
                <a:latin typeface="Poppins Bold"/>
                <a:ea typeface="Poppins Bold"/>
                <a:cs typeface="Poppins Bold"/>
                <a:sym typeface="Poppins Bold"/>
              </a:rPr>
              <a:t>AI Powered </a:t>
            </a:r>
            <a:r>
              <a:rPr lang="en-US" sz="6999" b="true">
                <a:solidFill>
                  <a:srgbClr val="001886"/>
                </a:solidFill>
                <a:latin typeface="Poppins Bold"/>
                <a:ea typeface="Poppins Bold"/>
                <a:cs typeface="Poppins Bold"/>
                <a:sym typeface="Poppins Bold"/>
              </a:rPr>
              <a:t>Train Safety System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3400" y="4418884"/>
            <a:ext cx="8986183" cy="372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with Real-Time Crowd and Obstacle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15679" y="493944"/>
            <a:ext cx="36436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roup No : 25-26J-134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1286" y="8771169"/>
            <a:ext cx="3358014" cy="72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109" spc="105">
                <a:solidFill>
                  <a:srgbClr val="38368D"/>
                </a:solidFill>
                <a:latin typeface="Open Sauce"/>
                <a:ea typeface="Open Sauce"/>
                <a:cs typeface="Open Sauce"/>
                <a:sym typeface="Open Sauce"/>
              </a:rPr>
              <a:t>SLIIT</a:t>
            </a:r>
          </a:p>
          <a:p>
            <a:pPr algn="ctr">
              <a:lnSpc>
                <a:spcPts val="2953"/>
              </a:lnSpc>
            </a:pPr>
            <a:r>
              <a:rPr lang="en-US" sz="2109" spc="105">
                <a:solidFill>
                  <a:srgbClr val="38368D"/>
                </a:solidFill>
                <a:latin typeface="Open Sauce"/>
                <a:ea typeface="Open Sauce"/>
                <a:cs typeface="Open Sauce"/>
                <a:sym typeface="Open Sauce"/>
              </a:rPr>
              <a:t>Faculty of Computing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175913" y="8765029"/>
            <a:ext cx="585946" cy="733605"/>
          </a:xfrm>
          <a:custGeom>
            <a:avLst/>
            <a:gdLst/>
            <a:ahLst/>
            <a:cxnLst/>
            <a:rect r="r" b="b" t="t" l="l"/>
            <a:pathLst>
              <a:path h="733605" w="585946">
                <a:moveTo>
                  <a:pt x="0" y="0"/>
                </a:moveTo>
                <a:lnTo>
                  <a:pt x="585946" y="0"/>
                </a:lnTo>
                <a:lnTo>
                  <a:pt x="585946" y="733605"/>
                </a:lnTo>
                <a:lnTo>
                  <a:pt x="0" y="733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61603" y="-1075807"/>
            <a:ext cx="6967153" cy="13373228"/>
            <a:chOff x="0" y="0"/>
            <a:chExt cx="1834970" cy="3522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4970" cy="3522167"/>
            </a:xfrm>
            <a:custGeom>
              <a:avLst/>
              <a:gdLst/>
              <a:ahLst/>
              <a:cxnLst/>
              <a:rect r="r" b="b" t="t" l="l"/>
              <a:pathLst>
                <a:path h="3522167" w="1834970">
                  <a:moveTo>
                    <a:pt x="0" y="0"/>
                  </a:moveTo>
                  <a:lnTo>
                    <a:pt x="1834970" y="0"/>
                  </a:lnTo>
                  <a:lnTo>
                    <a:pt x="1834970" y="3522167"/>
                  </a:lnTo>
                  <a:lnTo>
                    <a:pt x="0" y="3522167"/>
                  </a:lnTo>
                  <a:close/>
                </a:path>
              </a:pathLst>
            </a:custGeom>
            <a:solidFill>
              <a:srgbClr val="1337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34970" cy="356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38996" y="1272050"/>
            <a:ext cx="5239839" cy="7752636"/>
            <a:chOff x="0" y="0"/>
            <a:chExt cx="811788" cy="12010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1788" cy="1201086"/>
            </a:xfrm>
            <a:custGeom>
              <a:avLst/>
              <a:gdLst/>
              <a:ahLst/>
              <a:cxnLst/>
              <a:rect r="r" b="b" t="t" l="l"/>
              <a:pathLst>
                <a:path h="1201086" w="811788">
                  <a:moveTo>
                    <a:pt x="0" y="0"/>
                  </a:moveTo>
                  <a:lnTo>
                    <a:pt x="811788" y="0"/>
                  </a:lnTo>
                  <a:lnTo>
                    <a:pt x="811788" y="1201086"/>
                  </a:lnTo>
                  <a:lnTo>
                    <a:pt x="0" y="1201086"/>
                  </a:lnTo>
                  <a:close/>
                </a:path>
              </a:pathLst>
            </a:custGeom>
            <a:blipFill>
              <a:blip r:embed="rId2"/>
              <a:stretch>
                <a:fillRect l="0" t="-9944" r="0" b="-994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89693" y="2078348"/>
            <a:ext cx="8115300" cy="545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oblem &amp; Motivation</a:t>
            </a:r>
          </a:p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</a:p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Architecture &amp; Integration</a:t>
            </a:r>
          </a:p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Excellence (Components)</a:t>
            </a:r>
          </a:p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Commercialization &amp; Market Potential</a:t>
            </a:r>
          </a:p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Minute Solution Video</a:t>
            </a:r>
          </a:p>
          <a:p>
            <a:pPr algn="just" marL="604518" indent="-302259" lvl="1">
              <a:lnSpc>
                <a:spcPts val="543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 Plan</a:t>
            </a:r>
          </a:p>
          <a:p>
            <a:pPr algn="just">
              <a:lnSpc>
                <a:spcPts val="543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724485" y="6216371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6"/>
                </a:lnTo>
                <a:lnTo>
                  <a:pt x="0" y="3474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33875"/>
            <a:ext cx="7572263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32634" y="555307"/>
            <a:ext cx="12785041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Problem 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tate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ment 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&amp; M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5855" y="1618195"/>
            <a:ext cx="16616291" cy="184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0"/>
              </a:lnSpc>
            </a:pPr>
            <a:r>
              <a:rPr lang="en-US" b="true" sz="22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</a:t>
            </a:r>
          </a:p>
          <a:p>
            <a:pPr algn="just">
              <a:lnSpc>
                <a:spcPts val="3215"/>
              </a:lnSpc>
            </a:pP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Railway transportation systems often face safety and operational efficiency challenges, especially in high-density passenger environments and train collision</a:t>
            </a: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1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8010107" y="-394656"/>
            <a:ext cx="6967153" cy="13373228"/>
            <a:chOff x="0" y="0"/>
            <a:chExt cx="1834970" cy="35221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4970" cy="3522167"/>
            </a:xfrm>
            <a:custGeom>
              <a:avLst/>
              <a:gdLst/>
              <a:ahLst/>
              <a:cxnLst/>
              <a:rect r="r" b="b" t="t" l="l"/>
              <a:pathLst>
                <a:path h="3522167" w="1834970">
                  <a:moveTo>
                    <a:pt x="0" y="0"/>
                  </a:moveTo>
                  <a:lnTo>
                    <a:pt x="1834970" y="0"/>
                  </a:lnTo>
                  <a:lnTo>
                    <a:pt x="1834970" y="3522167"/>
                  </a:lnTo>
                  <a:lnTo>
                    <a:pt x="0" y="3522167"/>
                  </a:lnTo>
                  <a:close/>
                </a:path>
              </a:pathLst>
            </a:custGeom>
            <a:solidFill>
              <a:srgbClr val="1337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34970" cy="356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4121" y="-2313510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6"/>
                </a:lnTo>
                <a:lnTo>
                  <a:pt x="0" y="3474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86038" y="3477997"/>
            <a:ext cx="8866107" cy="519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8"/>
              </a:lnSpc>
            </a:pPr>
            <a:r>
              <a:rPr lang="en-US" b="true" sz="23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</a:t>
            </a:r>
            <a:r>
              <a:rPr lang="en-US" b="true" sz="23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served Issues 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Train overcrowding causes unsafe boarding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Obstacles on railway tracks cause accidents and delays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Driver fatigue and drowsiness often go undetected</a:t>
            </a:r>
          </a:p>
          <a:p>
            <a:pPr algn="just">
              <a:lnSpc>
                <a:spcPts val="3226"/>
              </a:lnSpc>
              <a:spcBef>
                <a:spcPct val="0"/>
              </a:spcBef>
            </a:pPr>
          </a:p>
          <a:p>
            <a:pPr algn="just">
              <a:lnSpc>
                <a:spcPts val="4748"/>
              </a:lnSpc>
            </a:pPr>
            <a:r>
              <a:rPr lang="en-US" b="true" sz="23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I</a:t>
            </a:r>
            <a:r>
              <a:rPr lang="en-US" b="true" sz="23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Matt</a:t>
            </a:r>
            <a:r>
              <a:rPr lang="en-US" b="true" sz="23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ers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Passenger safety risks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Train delays and operational ineff</a:t>
            </a: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iciency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Increased accident probability</a:t>
            </a:r>
          </a:p>
          <a:p>
            <a:pPr algn="just" marL="497634" indent="-248817" lvl="1">
              <a:lnSpc>
                <a:spcPts val="3572"/>
              </a:lnSpc>
              <a:buFont typeface="Arial"/>
              <a:buChar char="•"/>
            </a:pPr>
            <a:r>
              <a:rPr lang="en-US" sz="2304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Economic losses</a:t>
            </a:r>
          </a:p>
          <a:p>
            <a:pPr algn="l">
              <a:lnSpc>
                <a:spcPts val="322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5855" y="3597218"/>
            <a:ext cx="7423640" cy="404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0"/>
              </a:lnSpc>
            </a:pPr>
            <a:r>
              <a:rPr lang="en-US" b="true" sz="22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2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takeholders</a:t>
            </a:r>
          </a:p>
          <a:p>
            <a:pPr algn="just" marL="495813" indent="-247906" lvl="1">
              <a:lnSpc>
                <a:spcPts val="4730"/>
              </a:lnSpc>
              <a:buFont typeface="Arial"/>
              <a:buChar char="•"/>
            </a:pP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imary Users : </a:t>
            </a:r>
          </a:p>
          <a:p>
            <a:pPr algn="just">
              <a:lnSpc>
                <a:spcPts val="4730"/>
              </a:lnSpc>
            </a:pP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                 Train Drivers ,Railway Operators</a:t>
            </a:r>
          </a:p>
          <a:p>
            <a:pPr algn="just" marL="495813" indent="-247906" lvl="1">
              <a:lnSpc>
                <a:spcPts val="4730"/>
              </a:lnSpc>
              <a:buFont typeface="Arial"/>
              <a:buChar char="•"/>
            </a:pP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Secondary Users : </a:t>
            </a:r>
          </a:p>
          <a:p>
            <a:pPr algn="just">
              <a:lnSpc>
                <a:spcPts val="4730"/>
              </a:lnSpc>
            </a:pP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                </a:t>
            </a: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 Passengers ,Station Management Staff </a:t>
            </a:r>
          </a:p>
          <a:p>
            <a:pPr algn="just">
              <a:lnSpc>
                <a:spcPts val="4730"/>
              </a:lnSpc>
            </a:pP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2296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Railway Authorities ,Transport Ministries</a:t>
            </a:r>
          </a:p>
          <a:p>
            <a:pPr algn="l">
              <a:lnSpc>
                <a:spcPts val="32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026" y="1382158"/>
            <a:ext cx="17508537" cy="138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Summary</a:t>
            </a:r>
          </a:p>
          <a:p>
            <a:pPr algn="l" marL="539749" indent="-269875" lvl="1">
              <a:lnSpc>
                <a:spcPts val="3874"/>
              </a:lnSpc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An AI-powered integrated railway safety system that detects crowd density, track obstacles, and driver fatigue in real time to improve railway safety and operational efficiency.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026" y="282100"/>
            <a:ext cx="9269115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Solut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ion Ove</a:t>
            </a:r>
            <a:r>
              <a:rPr lang="en-US" sz="6000" strike="noStrike" u="none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-2719454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540353" y="4169313"/>
            <a:ext cx="7123604" cy="7095778"/>
            <a:chOff x="0" y="0"/>
            <a:chExt cx="6502400" cy="647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223" t="-24905" r="223" b="-2490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0026" y="2895918"/>
            <a:ext cx="9713192" cy="739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0"/>
              </a:lnSpc>
            </a:pPr>
            <a:r>
              <a:rPr lang="en-US" b="true" sz="2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</a:t>
            </a:r>
            <a:r>
              <a:rPr lang="en-US" b="true" sz="2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Features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Cr</a:t>
            </a: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owd Density Detection in train compartments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Platform Compartment Alignment Optimization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Real-Time Obstacle Detection &amp; Alerting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Intelligent Driver Fatigue Monitoring</a:t>
            </a:r>
          </a:p>
          <a:p>
            <a:pPr algn="just">
              <a:lnSpc>
                <a:spcPts val="3950"/>
              </a:lnSpc>
            </a:pPr>
          </a:p>
          <a:p>
            <a:pPr algn="just">
              <a:lnSpc>
                <a:spcPts val="3950"/>
              </a:lnSpc>
            </a:pPr>
            <a:r>
              <a:rPr lang="en-US" b="true" sz="2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Non Functional Focus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Real-time performance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Reliability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Privacy preserving (no identity storage)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Hardware compatibility with existing infrastructure</a:t>
            </a:r>
          </a:p>
          <a:p>
            <a:pPr algn="just">
              <a:lnSpc>
                <a:spcPts val="3950"/>
              </a:lnSpc>
            </a:pPr>
          </a:p>
          <a:p>
            <a:pPr algn="just">
              <a:lnSpc>
                <a:spcPts val="3950"/>
              </a:lnSpc>
            </a:pPr>
            <a:r>
              <a:rPr lang="en-US" b="true" sz="2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Completion Status</a:t>
            </a:r>
          </a:p>
          <a:p>
            <a:pPr algn="just" marL="539753" indent="-269876" lvl="1">
              <a:lnSpc>
                <a:spcPts val="3950"/>
              </a:lnSpc>
              <a:buFont typeface="Arial"/>
              <a:buChar char="•"/>
            </a:pPr>
            <a:r>
              <a:rPr lang="en-US" sz="25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90–95% completed prototype</a:t>
            </a: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21827" y="7219095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6" y="0"/>
                </a:lnTo>
                <a:lnTo>
                  <a:pt x="3474946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54443"/>
            <a:ext cx="14485685" cy="5595096"/>
          </a:xfrm>
          <a:custGeom>
            <a:avLst/>
            <a:gdLst/>
            <a:ahLst/>
            <a:cxnLst/>
            <a:rect r="r" b="b" t="t" l="l"/>
            <a:pathLst>
              <a:path h="5595096" w="14485685">
                <a:moveTo>
                  <a:pt x="0" y="0"/>
                </a:moveTo>
                <a:lnTo>
                  <a:pt x="14485685" y="0"/>
                </a:lnTo>
                <a:lnTo>
                  <a:pt x="14485685" y="5595095"/>
                </a:lnTo>
                <a:lnTo>
                  <a:pt x="0" y="5595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6945" y="555307"/>
            <a:ext cx="14754110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System 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7811" y="6992298"/>
            <a:ext cx="8070152" cy="211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Points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Python ML models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Sensor data via Arduino serial communication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REST APIs for data exchange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JSON data format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59300" y="6812053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904650" y="1493015"/>
          <a:ext cx="9479755" cy="4543064"/>
        </p:xfrm>
        <a:graphic>
          <a:graphicData uri="http://schemas.openxmlformats.org/drawingml/2006/table">
            <a:tbl>
              <a:tblPr/>
              <a:tblGrid>
                <a:gridCol w="5081764"/>
                <a:gridCol w="4397991"/>
              </a:tblGrid>
              <a:tr h="8603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System 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Team 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7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Crowd Density Detection 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IT22283412  - Udaya Sri A L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0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Platform Alignment Optimization 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IT22250988 - Bandara I 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6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Obstacle Detection &amp; Alerting 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IT22291578  - Prarthana L D 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22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Intelligent Driver Support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IT22597342  - Jayasinghe J M H 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151500" y="166536"/>
            <a:ext cx="139850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System Architecture &amp; Integration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0387" y="6992298"/>
            <a:ext cx="652293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nt Setup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Edge processing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Local server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Sensor integration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95993" y="2027074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5397" y="-621785"/>
            <a:ext cx="6638862" cy="14518799"/>
            <a:chOff x="0" y="0"/>
            <a:chExt cx="1748507" cy="3823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8507" cy="3823881"/>
            </a:xfrm>
            <a:custGeom>
              <a:avLst/>
              <a:gdLst/>
              <a:ahLst/>
              <a:cxnLst/>
              <a:rect r="r" b="b" t="t" l="l"/>
              <a:pathLst>
                <a:path h="3823881" w="1748507">
                  <a:moveTo>
                    <a:pt x="0" y="0"/>
                  </a:moveTo>
                  <a:lnTo>
                    <a:pt x="1748507" y="0"/>
                  </a:lnTo>
                  <a:lnTo>
                    <a:pt x="1748507" y="3823881"/>
                  </a:lnTo>
                  <a:lnTo>
                    <a:pt x="0" y="3823881"/>
                  </a:lnTo>
                  <a:close/>
                </a:path>
              </a:pathLst>
            </a:custGeom>
            <a:solidFill>
              <a:srgbClr val="1337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48507" cy="3861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4442" y="6348333"/>
            <a:ext cx="4959022" cy="2623185"/>
            <a:chOff x="0" y="0"/>
            <a:chExt cx="76828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8282" cy="406400"/>
            </a:xfrm>
            <a:custGeom>
              <a:avLst/>
              <a:gdLst/>
              <a:ahLst/>
              <a:cxnLst/>
              <a:rect r="r" b="b" t="t" l="l"/>
              <a:pathLst>
                <a:path h="406400" w="768282">
                  <a:moveTo>
                    <a:pt x="0" y="0"/>
                  </a:moveTo>
                  <a:lnTo>
                    <a:pt x="768282" y="0"/>
                  </a:lnTo>
                  <a:lnTo>
                    <a:pt x="768282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2"/>
              <a:stretch>
                <a:fillRect l="0" t="-13416" r="0" b="-1341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96276" y="1470278"/>
            <a:ext cx="4959022" cy="2623185"/>
            <a:chOff x="0" y="0"/>
            <a:chExt cx="768282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8282" cy="406400"/>
            </a:xfrm>
            <a:custGeom>
              <a:avLst/>
              <a:gdLst/>
              <a:ahLst/>
              <a:cxnLst/>
              <a:rect r="r" b="b" t="t" l="l"/>
              <a:pathLst>
                <a:path h="406400" w="768282">
                  <a:moveTo>
                    <a:pt x="0" y="0"/>
                  </a:moveTo>
                  <a:lnTo>
                    <a:pt x="768282" y="0"/>
                  </a:lnTo>
                  <a:lnTo>
                    <a:pt x="768282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/>
              <a:stretch>
                <a:fillRect l="0" t="-92042" r="0" b="-9204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41049" y="1745694"/>
            <a:ext cx="10764710" cy="794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rget Users / Market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Railway authorities and transport ministries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Station operators and control centers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Urban metro and suburban railway systems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Integrated AI system combining crowd monitoring, obstacle detection, and driver fatigue detection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Improves passenger safety and operational efficiency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Works with existing CCTV infrastructure, reducing deployment cost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Cost and Feasibility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Uses low-cost cameras and sensors with AI software integration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Deployable as an add-on system without major railway infrastructure changes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Estimated low to moderate deployment cost per station/train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941049" y="194451"/>
            <a:ext cx="891727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Commer</a:t>
            </a:r>
            <a:r>
              <a:rPr lang="en-US" sz="6000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cialization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065317" y="6812053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80248" y="6693004"/>
            <a:ext cx="20480717" cy="7387990"/>
            <a:chOff x="0" y="0"/>
            <a:chExt cx="5394098" cy="194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94098" cy="1945808"/>
            </a:xfrm>
            <a:custGeom>
              <a:avLst/>
              <a:gdLst/>
              <a:ahLst/>
              <a:cxnLst/>
              <a:rect r="r" b="b" t="t" l="l"/>
              <a:pathLst>
                <a:path h="1945808" w="5394098">
                  <a:moveTo>
                    <a:pt x="0" y="0"/>
                  </a:moveTo>
                  <a:lnTo>
                    <a:pt x="5394098" y="0"/>
                  </a:lnTo>
                  <a:lnTo>
                    <a:pt x="5394098" y="1945808"/>
                  </a:lnTo>
                  <a:lnTo>
                    <a:pt x="0" y="1945808"/>
                  </a:lnTo>
                  <a:close/>
                </a:path>
              </a:pathLst>
            </a:custGeom>
            <a:solidFill>
              <a:srgbClr val="1337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94098" cy="198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4810" y="6693004"/>
            <a:ext cx="16230600" cy="4551730"/>
            <a:chOff x="0" y="0"/>
            <a:chExt cx="2514545" cy="7051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14545" cy="705182"/>
            </a:xfrm>
            <a:custGeom>
              <a:avLst/>
              <a:gdLst/>
              <a:ahLst/>
              <a:cxnLst/>
              <a:rect r="r" b="b" t="t" l="l"/>
              <a:pathLst>
                <a:path h="705182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705182"/>
                  </a:lnTo>
                  <a:lnTo>
                    <a:pt x="0" y="705182"/>
                  </a:lnTo>
                  <a:close/>
                </a:path>
              </a:pathLst>
            </a:custGeom>
            <a:blipFill>
              <a:blip r:embed="rId2"/>
              <a:stretch>
                <a:fillRect l="0" t="-79017" r="0" b="-7901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44810" y="307975"/>
            <a:ext cx="537951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1337DF"/>
                </a:solidFill>
                <a:latin typeface="Poppins"/>
                <a:ea typeface="Poppins"/>
                <a:cs typeface="Poppins"/>
                <a:sym typeface="Poppins"/>
              </a:rPr>
              <a:t>DEMO PLAN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12222"/>
            <a:ext cx="16600368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Step 1 : Compartment Crowd density detection module live demo + Performance Improvement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Step 2 : Platform Compartment Alignment Optimization module live demo + Performance Improvement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Step 3 : Obstacle Detection and Alerting module live demo + Performance Improvement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1886"/>
                </a:solidFill>
                <a:latin typeface="Poppins"/>
                <a:ea typeface="Poppins"/>
                <a:cs typeface="Poppins"/>
                <a:sym typeface="Poppins"/>
              </a:rPr>
              <a:t>Step 4 : Intelligent Driver Support System live demo + Performance Improvement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817722" y="1028700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629068" y="2923033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6" y="0"/>
                </a:lnTo>
                <a:lnTo>
                  <a:pt x="3474946" y="3474947"/>
                </a:lnTo>
                <a:lnTo>
                  <a:pt x="0" y="34749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7614" y="3628347"/>
            <a:ext cx="761950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1886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 !!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72766" y="-3303970"/>
            <a:ext cx="7615234" cy="12562270"/>
            <a:chOff x="0" y="0"/>
            <a:chExt cx="2005658" cy="3308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05658" cy="3308581"/>
            </a:xfrm>
            <a:custGeom>
              <a:avLst/>
              <a:gdLst/>
              <a:ahLst/>
              <a:cxnLst/>
              <a:rect r="r" b="b" t="t" l="l"/>
              <a:pathLst>
                <a:path h="3308581" w="2005658">
                  <a:moveTo>
                    <a:pt x="0" y="0"/>
                  </a:moveTo>
                  <a:lnTo>
                    <a:pt x="2005658" y="0"/>
                  </a:lnTo>
                  <a:lnTo>
                    <a:pt x="2005658" y="3308581"/>
                  </a:lnTo>
                  <a:lnTo>
                    <a:pt x="0" y="3308581"/>
                  </a:lnTo>
                  <a:close/>
                </a:path>
              </a:pathLst>
            </a:custGeom>
            <a:solidFill>
              <a:srgbClr val="1337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05658" cy="3346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61553" y="1028700"/>
            <a:ext cx="5397747" cy="9258300"/>
            <a:chOff x="0" y="0"/>
            <a:chExt cx="1392698" cy="23887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2698" cy="2388778"/>
            </a:xfrm>
            <a:custGeom>
              <a:avLst/>
              <a:gdLst/>
              <a:ahLst/>
              <a:cxnLst/>
              <a:rect r="r" b="b" t="t" l="l"/>
              <a:pathLst>
                <a:path h="2388778" w="1392698">
                  <a:moveTo>
                    <a:pt x="0" y="0"/>
                  </a:moveTo>
                  <a:lnTo>
                    <a:pt x="1392698" y="0"/>
                  </a:lnTo>
                  <a:lnTo>
                    <a:pt x="1392698" y="2388778"/>
                  </a:lnTo>
                  <a:lnTo>
                    <a:pt x="0" y="2388778"/>
                  </a:lnTo>
                  <a:close/>
                </a:path>
              </a:pathLst>
            </a:custGeom>
            <a:blipFill>
              <a:blip r:embed="rId2"/>
              <a:stretch>
                <a:fillRect l="-30615" t="0" r="-3061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789147" y="6561531"/>
            <a:ext cx="3474947" cy="3474947"/>
          </a:xfrm>
          <a:custGeom>
            <a:avLst/>
            <a:gdLst/>
            <a:ahLst/>
            <a:cxnLst/>
            <a:rect r="r" b="b" t="t" l="l"/>
            <a:pathLst>
              <a:path h="3474947" w="3474947">
                <a:moveTo>
                  <a:pt x="0" y="0"/>
                </a:moveTo>
                <a:lnTo>
                  <a:pt x="3474947" y="0"/>
                </a:lnTo>
                <a:lnTo>
                  <a:pt x="3474947" y="3474946"/>
                </a:lnTo>
                <a:lnTo>
                  <a:pt x="0" y="3474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DAHDRISTv2A</dc:identifier>
  <dcterms:modified xsi:type="dcterms:W3CDTF">2011-08-01T06:04:30Z</dcterms:modified>
  <cp:revision>1</cp:revision>
  <dc:title>Blue Modern Logistics On-Time Deliveries Presentation</dc:title>
</cp:coreProperties>
</file>