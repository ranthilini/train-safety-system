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Open Sauce" charset="1" panose="00000500000000000000"/>
      <p:regular r:id="rId25"/>
    </p:embeddedFont>
    <p:embeddedFont>
      <p:font typeface="Poppins Semi-Bold" charset="1" panose="00000700000000000000"/>
      <p:regular r:id="rId26"/>
    </p:embeddedFont>
    <p:embeddedFont>
      <p:font typeface="Open Sauce Bold" charset="1" panose="00000800000000000000"/>
      <p:regular r:id="rId27"/>
    </p:embeddedFont>
    <p:embeddedFont>
      <p:font typeface="Poppins" charset="1" panose="00000500000000000000"/>
      <p:regular r:id="rId28"/>
    </p:embeddedFont>
    <p:embeddedFont>
      <p:font typeface="Open Sauce Italics" charset="1" panose="00000500000000000000"/>
      <p:regular r:id="rId29"/>
    </p:embeddedFont>
    <p:embeddedFont>
      <p:font typeface="Open Sauce Bold Italics" charset="1" panose="000008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jpeg" Type="http://schemas.openxmlformats.org/officeDocument/2006/relationships/image"/><Relationship Id="rId8"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4.pn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6.pn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9.pn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30.jpe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32.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3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0">
            <a:off x="12974764" y="-207071"/>
            <a:ext cx="3086100" cy="11299900"/>
            <a:chOff x="0" y="0"/>
            <a:chExt cx="812800" cy="2976105"/>
          </a:xfrm>
        </p:grpSpPr>
        <p:sp>
          <p:nvSpPr>
            <p:cNvPr name="Freeform 3" id="3"/>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C5739"/>
            </a:solidFill>
          </p:spPr>
        </p:sp>
        <p:sp>
          <p:nvSpPr>
            <p:cNvPr name="TextBox 4" id="4"/>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sp>
        <p:nvSpPr>
          <p:cNvPr name="Freeform 5" id="5"/>
          <p:cNvSpPr/>
          <p:nvPr/>
        </p:nvSpPr>
        <p:spPr>
          <a:xfrm flipH="false" flipV="false" rot="0">
            <a:off x="11511904" y="580047"/>
            <a:ext cx="5516600" cy="9023371"/>
          </a:xfrm>
          <a:custGeom>
            <a:avLst/>
            <a:gdLst/>
            <a:ahLst/>
            <a:cxnLst/>
            <a:rect r="r" b="b" t="t" l="l"/>
            <a:pathLst>
              <a:path h="9023371" w="5516600">
                <a:moveTo>
                  <a:pt x="0" y="0"/>
                </a:moveTo>
                <a:lnTo>
                  <a:pt x="5516600" y="0"/>
                </a:lnTo>
                <a:lnTo>
                  <a:pt x="5516600" y="9023371"/>
                </a:lnTo>
                <a:lnTo>
                  <a:pt x="0" y="9023371"/>
                </a:lnTo>
                <a:lnTo>
                  <a:pt x="0" y="0"/>
                </a:lnTo>
                <a:close/>
              </a:path>
            </a:pathLst>
          </a:custGeom>
          <a:blipFill>
            <a:blip r:embed="rId2"/>
            <a:stretch>
              <a:fillRect l="0" t="-4586" r="0" b="-4586"/>
            </a:stretch>
          </a:blipFill>
        </p:spPr>
      </p:sp>
      <p:sp>
        <p:nvSpPr>
          <p:cNvPr name="Freeform 6" id="6"/>
          <p:cNvSpPr/>
          <p:nvPr/>
        </p:nvSpPr>
        <p:spPr>
          <a:xfrm flipH="false" flipV="false" rot="0">
            <a:off x="16384715" y="9009597"/>
            <a:ext cx="3806571" cy="2083232"/>
          </a:xfrm>
          <a:custGeom>
            <a:avLst/>
            <a:gdLst/>
            <a:ahLst/>
            <a:cxnLst/>
            <a:rect r="r" b="b" t="t" l="l"/>
            <a:pathLst>
              <a:path h="2083232" w="3806571">
                <a:moveTo>
                  <a:pt x="0" y="0"/>
                </a:moveTo>
                <a:lnTo>
                  <a:pt x="3806570" y="0"/>
                </a:lnTo>
                <a:lnTo>
                  <a:pt x="3806570" y="2083232"/>
                </a:lnTo>
                <a:lnTo>
                  <a:pt x="0" y="20832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543050" y="-558218"/>
            <a:ext cx="3086100" cy="11299900"/>
            <a:chOff x="0" y="0"/>
            <a:chExt cx="812800" cy="2976105"/>
          </a:xfrm>
        </p:grpSpPr>
        <p:sp>
          <p:nvSpPr>
            <p:cNvPr name="Freeform 8" id="8"/>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C5739"/>
            </a:solidFill>
          </p:spPr>
        </p:sp>
        <p:sp>
          <p:nvSpPr>
            <p:cNvPr name="TextBox 9" id="9"/>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10" id="10"/>
          <p:cNvGrpSpPr/>
          <p:nvPr/>
        </p:nvGrpSpPr>
        <p:grpSpPr>
          <a:xfrm rot="0">
            <a:off x="1227773" y="4163622"/>
            <a:ext cx="110236" cy="2818996"/>
            <a:chOff x="0" y="0"/>
            <a:chExt cx="26312" cy="672855"/>
          </a:xfrm>
        </p:grpSpPr>
        <p:sp>
          <p:nvSpPr>
            <p:cNvPr name="Freeform 11" id="11"/>
            <p:cNvSpPr/>
            <p:nvPr/>
          </p:nvSpPr>
          <p:spPr>
            <a:xfrm flipH="false" flipV="false" rot="0">
              <a:off x="0" y="0"/>
              <a:ext cx="26312" cy="672855"/>
            </a:xfrm>
            <a:custGeom>
              <a:avLst/>
              <a:gdLst/>
              <a:ahLst/>
              <a:cxnLst/>
              <a:rect r="r" b="b" t="t" l="l"/>
              <a:pathLst>
                <a:path h="672855" w="26312">
                  <a:moveTo>
                    <a:pt x="0" y="0"/>
                  </a:moveTo>
                  <a:lnTo>
                    <a:pt x="26312" y="0"/>
                  </a:lnTo>
                  <a:lnTo>
                    <a:pt x="26312" y="672855"/>
                  </a:lnTo>
                  <a:lnTo>
                    <a:pt x="0" y="672855"/>
                  </a:lnTo>
                  <a:close/>
                </a:path>
              </a:pathLst>
            </a:custGeom>
            <a:solidFill>
              <a:srgbClr val="FFFFFF"/>
            </a:solidFill>
          </p:spPr>
        </p:sp>
        <p:sp>
          <p:nvSpPr>
            <p:cNvPr name="TextBox 12" id="12"/>
            <p:cNvSpPr txBox="true"/>
            <p:nvPr/>
          </p:nvSpPr>
          <p:spPr>
            <a:xfrm>
              <a:off x="0" y="-19050"/>
              <a:ext cx="26312" cy="691905"/>
            </a:xfrm>
            <a:prstGeom prst="rect">
              <a:avLst/>
            </a:prstGeom>
          </p:spPr>
          <p:txBody>
            <a:bodyPr anchor="ctr" rtlCol="false" tIns="50800" lIns="50800" bIns="50800" rIns="50800"/>
            <a:lstStyle/>
            <a:p>
              <a:pPr algn="ctr">
                <a:lnSpc>
                  <a:spcPts val="2859"/>
                </a:lnSpc>
              </a:pPr>
            </a:p>
          </p:txBody>
        </p:sp>
      </p:grpSp>
      <p:sp>
        <p:nvSpPr>
          <p:cNvPr name="Freeform 13" id="13"/>
          <p:cNvSpPr/>
          <p:nvPr/>
        </p:nvSpPr>
        <p:spPr>
          <a:xfrm flipH="false" flipV="false" rot="0">
            <a:off x="-2777871" y="-207071"/>
            <a:ext cx="3806571" cy="2083232"/>
          </a:xfrm>
          <a:custGeom>
            <a:avLst/>
            <a:gdLst/>
            <a:ahLst/>
            <a:cxnLst/>
            <a:rect r="r" b="b" t="t" l="l"/>
            <a:pathLst>
              <a:path h="2083232" w="3806571">
                <a:moveTo>
                  <a:pt x="0" y="0"/>
                </a:moveTo>
                <a:lnTo>
                  <a:pt x="3806571" y="0"/>
                </a:lnTo>
                <a:lnTo>
                  <a:pt x="3806571" y="2083233"/>
                </a:lnTo>
                <a:lnTo>
                  <a:pt x="0" y="208323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1917921" y="8659621"/>
            <a:ext cx="753831" cy="943797"/>
          </a:xfrm>
          <a:custGeom>
            <a:avLst/>
            <a:gdLst/>
            <a:ahLst/>
            <a:cxnLst/>
            <a:rect r="r" b="b" t="t" l="l"/>
            <a:pathLst>
              <a:path h="943797" w="753831">
                <a:moveTo>
                  <a:pt x="0" y="0"/>
                </a:moveTo>
                <a:lnTo>
                  <a:pt x="753831" y="0"/>
                </a:lnTo>
                <a:lnTo>
                  <a:pt x="753831" y="943797"/>
                </a:lnTo>
                <a:lnTo>
                  <a:pt x="0" y="943797"/>
                </a:lnTo>
                <a:lnTo>
                  <a:pt x="0" y="0"/>
                </a:lnTo>
                <a:close/>
              </a:path>
            </a:pathLst>
          </a:custGeom>
          <a:blipFill>
            <a:blip r:embed="rId7"/>
            <a:stretch>
              <a:fillRect l="0" t="0" r="0" b="0"/>
            </a:stretch>
          </a:blipFill>
        </p:spPr>
      </p:sp>
      <p:sp>
        <p:nvSpPr>
          <p:cNvPr name="TextBox 15" id="15"/>
          <p:cNvSpPr txBox="true"/>
          <p:nvPr/>
        </p:nvSpPr>
        <p:spPr>
          <a:xfrm rot="0">
            <a:off x="3169463" y="8748737"/>
            <a:ext cx="3358014" cy="727465"/>
          </a:xfrm>
          <a:prstGeom prst="rect">
            <a:avLst/>
          </a:prstGeom>
        </p:spPr>
        <p:txBody>
          <a:bodyPr anchor="t" rtlCol="false" tIns="0" lIns="0" bIns="0" rIns="0">
            <a:spAutoFit/>
          </a:bodyPr>
          <a:lstStyle/>
          <a:p>
            <a:pPr algn="ctr">
              <a:lnSpc>
                <a:spcPts val="2953"/>
              </a:lnSpc>
            </a:pPr>
            <a:r>
              <a:rPr lang="en-US" sz="2109" spc="105">
                <a:solidFill>
                  <a:srgbClr val="38368D"/>
                </a:solidFill>
                <a:latin typeface="Open Sauce"/>
                <a:ea typeface="Open Sauce"/>
                <a:cs typeface="Open Sauce"/>
                <a:sym typeface="Open Sauce"/>
              </a:rPr>
              <a:t>SLIIT</a:t>
            </a:r>
          </a:p>
          <a:p>
            <a:pPr algn="ctr">
              <a:lnSpc>
                <a:spcPts val="2953"/>
              </a:lnSpc>
            </a:pPr>
            <a:r>
              <a:rPr lang="en-US" sz="2109" spc="105">
                <a:solidFill>
                  <a:srgbClr val="38368D"/>
                </a:solidFill>
                <a:latin typeface="Open Sauce"/>
                <a:ea typeface="Open Sauce"/>
                <a:cs typeface="Open Sauce"/>
                <a:sym typeface="Open Sauce"/>
              </a:rPr>
              <a:t>Faculty of Computing</a:t>
            </a:r>
          </a:p>
        </p:txBody>
      </p:sp>
      <p:sp>
        <p:nvSpPr>
          <p:cNvPr name="TextBox 16" id="16"/>
          <p:cNvSpPr txBox="true"/>
          <p:nvPr/>
        </p:nvSpPr>
        <p:spPr>
          <a:xfrm rot="0">
            <a:off x="1917921" y="418122"/>
            <a:ext cx="9219113" cy="4215765"/>
          </a:xfrm>
          <a:prstGeom prst="rect">
            <a:avLst/>
          </a:prstGeom>
        </p:spPr>
        <p:txBody>
          <a:bodyPr anchor="t" rtlCol="false" tIns="0" lIns="0" bIns="0" rIns="0">
            <a:spAutoFit/>
          </a:bodyPr>
          <a:lstStyle/>
          <a:p>
            <a:pPr algn="ctr" marL="0" indent="0" lvl="0">
              <a:lnSpc>
                <a:spcPts val="8280"/>
              </a:lnSpc>
              <a:spcBef>
                <a:spcPct val="0"/>
              </a:spcBef>
            </a:pPr>
            <a:r>
              <a:rPr lang="en-US" b="true" sz="6000" spc="30">
                <a:solidFill>
                  <a:srgbClr val="1C5739"/>
                </a:solidFill>
                <a:latin typeface="Poppins Semi-Bold"/>
                <a:ea typeface="Poppins Semi-Bold"/>
                <a:cs typeface="Poppins Semi-Bold"/>
                <a:sym typeface="Poppins Semi-Bold"/>
              </a:rPr>
              <a:t>AI Powered Train Safety System with Real-Time Crowd and Obstacle Detection</a:t>
            </a:r>
          </a:p>
        </p:txBody>
      </p:sp>
      <p:sp>
        <p:nvSpPr>
          <p:cNvPr name="TextBox 17" id="17"/>
          <p:cNvSpPr txBox="true"/>
          <p:nvPr/>
        </p:nvSpPr>
        <p:spPr>
          <a:xfrm rot="0">
            <a:off x="4205709" y="6620563"/>
            <a:ext cx="4438496" cy="395995"/>
          </a:xfrm>
          <a:prstGeom prst="rect">
            <a:avLst/>
          </a:prstGeom>
        </p:spPr>
        <p:txBody>
          <a:bodyPr anchor="t" rtlCol="false" tIns="0" lIns="0" bIns="0" rIns="0">
            <a:spAutoFit/>
          </a:bodyPr>
          <a:lstStyle/>
          <a:p>
            <a:pPr algn="ctr">
              <a:lnSpc>
                <a:spcPts val="3373"/>
              </a:lnSpc>
            </a:pPr>
            <a:r>
              <a:rPr lang="en-US" b="true" sz="2409" spc="120">
                <a:solidFill>
                  <a:srgbClr val="27714A"/>
                </a:solidFill>
                <a:latin typeface="Open Sauce Bold"/>
                <a:ea typeface="Open Sauce Bold"/>
                <a:cs typeface="Open Sauce Bold"/>
                <a:sym typeface="Open Sauce Bold"/>
              </a:rPr>
              <a:t>Group No : 25-26J-134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43050" y="-558218"/>
            <a:ext cx="3086100" cy="11299900"/>
            <a:chOff x="0" y="0"/>
            <a:chExt cx="812800" cy="2976105"/>
          </a:xfrm>
        </p:grpSpPr>
        <p:sp>
          <p:nvSpPr>
            <p:cNvPr name="Freeform 3" id="3"/>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C5739"/>
            </a:solidFill>
          </p:spPr>
        </p:sp>
        <p:sp>
          <p:nvSpPr>
            <p:cNvPr name="TextBox 4" id="4"/>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0">
            <a:off x="12193216" y="1415447"/>
            <a:ext cx="5408984" cy="7979428"/>
            <a:chOff x="0" y="0"/>
            <a:chExt cx="1424588" cy="2101578"/>
          </a:xfrm>
        </p:grpSpPr>
        <p:sp>
          <p:nvSpPr>
            <p:cNvPr name="Freeform 6" id="6"/>
            <p:cNvSpPr/>
            <p:nvPr/>
          </p:nvSpPr>
          <p:spPr>
            <a:xfrm flipH="false" flipV="false" rot="0">
              <a:off x="0" y="0"/>
              <a:ext cx="1424588" cy="2101578"/>
            </a:xfrm>
            <a:custGeom>
              <a:avLst/>
              <a:gdLst/>
              <a:ahLst/>
              <a:cxnLst/>
              <a:rect r="r" b="b" t="t" l="l"/>
              <a:pathLst>
                <a:path h="2101578" w="1424588">
                  <a:moveTo>
                    <a:pt x="0" y="0"/>
                  </a:moveTo>
                  <a:lnTo>
                    <a:pt x="1424588" y="0"/>
                  </a:lnTo>
                  <a:lnTo>
                    <a:pt x="1424588" y="2101578"/>
                  </a:lnTo>
                  <a:lnTo>
                    <a:pt x="0" y="2101578"/>
                  </a:lnTo>
                  <a:close/>
                </a:path>
              </a:pathLst>
            </a:custGeom>
            <a:solidFill>
              <a:srgbClr val="1C5739"/>
            </a:solidFill>
          </p:spPr>
        </p:sp>
        <p:sp>
          <p:nvSpPr>
            <p:cNvPr name="TextBox 7" id="7"/>
            <p:cNvSpPr txBox="true"/>
            <p:nvPr/>
          </p:nvSpPr>
          <p:spPr>
            <a:xfrm>
              <a:off x="0" y="-19050"/>
              <a:ext cx="1424588" cy="2120628"/>
            </a:xfrm>
            <a:prstGeom prst="rect">
              <a:avLst/>
            </a:prstGeom>
          </p:spPr>
          <p:txBody>
            <a:bodyPr anchor="ctr" rtlCol="false" tIns="50800" lIns="50800" bIns="50800" rIns="50800"/>
            <a:lstStyle/>
            <a:p>
              <a:pPr algn="ctr">
                <a:lnSpc>
                  <a:spcPts val="2859"/>
                </a:lnSpc>
              </a:pPr>
            </a:p>
          </p:txBody>
        </p:sp>
      </p:grpSp>
      <p:sp>
        <p:nvSpPr>
          <p:cNvPr name="Freeform 8" id="8"/>
          <p:cNvSpPr/>
          <p:nvPr/>
        </p:nvSpPr>
        <p:spPr>
          <a:xfrm flipH="false" flipV="false" rot="0">
            <a:off x="15698915" y="8697813"/>
            <a:ext cx="3806571" cy="2083232"/>
          </a:xfrm>
          <a:custGeom>
            <a:avLst/>
            <a:gdLst/>
            <a:ahLst/>
            <a:cxnLst/>
            <a:rect r="r" b="b" t="t" l="l"/>
            <a:pathLst>
              <a:path h="2083232" w="3806571">
                <a:moveTo>
                  <a:pt x="0" y="0"/>
                </a:moveTo>
                <a:lnTo>
                  <a:pt x="3806570" y="0"/>
                </a:lnTo>
                <a:lnTo>
                  <a:pt x="3806570" y="2083232"/>
                </a:lnTo>
                <a:lnTo>
                  <a:pt x="0" y="2083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772900" y="1028700"/>
            <a:ext cx="5486400" cy="7980897"/>
          </a:xfrm>
          <a:custGeom>
            <a:avLst/>
            <a:gdLst/>
            <a:ahLst/>
            <a:cxnLst/>
            <a:rect r="r" b="b" t="t" l="l"/>
            <a:pathLst>
              <a:path h="7980897" w="5486400">
                <a:moveTo>
                  <a:pt x="0" y="0"/>
                </a:moveTo>
                <a:lnTo>
                  <a:pt x="5486400" y="0"/>
                </a:lnTo>
                <a:lnTo>
                  <a:pt x="5486400" y="7980897"/>
                </a:lnTo>
                <a:lnTo>
                  <a:pt x="0" y="7980897"/>
                </a:lnTo>
                <a:lnTo>
                  <a:pt x="0" y="0"/>
                </a:lnTo>
                <a:close/>
              </a:path>
            </a:pathLst>
          </a:custGeom>
          <a:blipFill>
            <a:blip r:embed="rId4"/>
            <a:stretch>
              <a:fillRect l="-18501" t="0" r="-18501" b="0"/>
            </a:stretch>
          </a:blipFill>
        </p:spPr>
      </p:sp>
      <p:sp>
        <p:nvSpPr>
          <p:cNvPr name="TextBox 10" id="10"/>
          <p:cNvSpPr txBox="true"/>
          <p:nvPr/>
        </p:nvSpPr>
        <p:spPr>
          <a:xfrm rot="0">
            <a:off x="3482009" y="610036"/>
            <a:ext cx="5661991" cy="1401272"/>
          </a:xfrm>
          <a:prstGeom prst="rect">
            <a:avLst/>
          </a:prstGeom>
        </p:spPr>
        <p:txBody>
          <a:bodyPr anchor="t" rtlCol="false" tIns="0" lIns="0" bIns="0" rIns="0">
            <a:spAutoFit/>
          </a:bodyPr>
          <a:lstStyle/>
          <a:p>
            <a:pPr algn="l">
              <a:lnSpc>
                <a:spcPts val="10858"/>
              </a:lnSpc>
            </a:pPr>
            <a:r>
              <a:rPr lang="en-US" sz="7868" spc="771">
                <a:solidFill>
                  <a:srgbClr val="231F20"/>
                </a:solidFill>
                <a:latin typeface="Poppins"/>
                <a:ea typeface="Poppins"/>
                <a:cs typeface="Poppins"/>
                <a:sym typeface="Poppins"/>
              </a:rPr>
              <a:t>Content</a:t>
            </a:r>
          </a:p>
        </p:txBody>
      </p:sp>
      <p:sp>
        <p:nvSpPr>
          <p:cNvPr name="TextBox 11" id="11"/>
          <p:cNvSpPr txBox="true"/>
          <p:nvPr/>
        </p:nvSpPr>
        <p:spPr>
          <a:xfrm rot="0">
            <a:off x="2405181" y="2086311"/>
            <a:ext cx="9025314" cy="6843585"/>
          </a:xfrm>
          <a:prstGeom prst="rect">
            <a:avLst/>
          </a:prstGeom>
        </p:spPr>
        <p:txBody>
          <a:bodyPr anchor="t" rtlCol="false" tIns="0" lIns="0" bIns="0" rIns="0">
            <a:spAutoFit/>
          </a:bodyPr>
          <a:lstStyle/>
          <a:p>
            <a:pPr algn="l" marL="591852" indent="-295926" lvl="1">
              <a:lnSpc>
                <a:spcPts val="5976"/>
              </a:lnSpc>
              <a:buAutoNum type="arabicPeriod" startAt="1"/>
            </a:pPr>
            <a:r>
              <a:rPr lang="en-US" sz="2741" spc="158">
                <a:solidFill>
                  <a:srgbClr val="231F20"/>
                </a:solidFill>
                <a:latin typeface="Open Sauce"/>
                <a:ea typeface="Open Sauce"/>
                <a:cs typeface="Open Sauce"/>
                <a:sym typeface="Open Sauce"/>
              </a:rPr>
              <a:t>  Overview</a:t>
            </a:r>
          </a:p>
          <a:p>
            <a:pPr algn="l" marL="591852" indent="-295926" lvl="1">
              <a:lnSpc>
                <a:spcPts val="5976"/>
              </a:lnSpc>
              <a:buAutoNum type="arabicPeriod" startAt="1"/>
            </a:pPr>
            <a:r>
              <a:rPr lang="en-US" sz="2741" spc="158">
                <a:solidFill>
                  <a:srgbClr val="231F20"/>
                </a:solidFill>
                <a:latin typeface="Open Sauce"/>
                <a:ea typeface="Open Sauce"/>
                <a:cs typeface="Open Sauce"/>
                <a:sym typeface="Open Sauce"/>
              </a:rPr>
              <a:t>  Design Excellence of the Project</a:t>
            </a:r>
          </a:p>
          <a:p>
            <a:pPr algn="l" marL="591852" indent="-295926" lvl="1">
              <a:lnSpc>
                <a:spcPts val="5976"/>
              </a:lnSpc>
              <a:buAutoNum type="arabicPeriod" startAt="1"/>
            </a:pPr>
            <a:r>
              <a:rPr lang="en-US" sz="2741" spc="158">
                <a:solidFill>
                  <a:srgbClr val="231F20"/>
                </a:solidFill>
                <a:latin typeface="Open Sauce"/>
                <a:ea typeface="Open Sauce"/>
                <a:cs typeface="Open Sauce"/>
                <a:sym typeface="Open Sauce"/>
              </a:rPr>
              <a:t>  Individual Components</a:t>
            </a:r>
          </a:p>
          <a:p>
            <a:pPr algn="l">
              <a:lnSpc>
                <a:spcPts val="4981"/>
              </a:lnSpc>
            </a:pPr>
            <a:r>
              <a:rPr lang="en-US" sz="2541" spc="147">
                <a:solidFill>
                  <a:srgbClr val="231F20"/>
                </a:solidFill>
                <a:latin typeface="Open Sauce"/>
                <a:ea typeface="Open Sauce"/>
                <a:cs typeface="Open Sauce"/>
                <a:sym typeface="Open Sauce"/>
              </a:rPr>
              <a:t>       -  </a:t>
            </a:r>
            <a:r>
              <a:rPr lang="en-US" sz="2541" i="true" spc="147">
                <a:solidFill>
                  <a:srgbClr val="231F20"/>
                </a:solidFill>
                <a:latin typeface="Open Sauce Italics"/>
                <a:ea typeface="Open Sauce Italics"/>
                <a:cs typeface="Open Sauce Italics"/>
                <a:sym typeface="Open Sauce Italics"/>
              </a:rPr>
              <a:t>Compartment Crowd Density Detection</a:t>
            </a:r>
          </a:p>
          <a:p>
            <a:pPr algn="l">
              <a:lnSpc>
                <a:spcPts val="4981"/>
              </a:lnSpc>
            </a:pPr>
            <a:r>
              <a:rPr lang="en-US" sz="2541" i="true" spc="147">
                <a:solidFill>
                  <a:srgbClr val="231F20"/>
                </a:solidFill>
                <a:latin typeface="Open Sauce Italics"/>
                <a:ea typeface="Open Sauce Italics"/>
                <a:cs typeface="Open Sauce Italics"/>
                <a:sym typeface="Open Sauce Italics"/>
              </a:rPr>
              <a:t>       -  Platform Compartment Alignment</a:t>
            </a:r>
          </a:p>
          <a:p>
            <a:pPr algn="l">
              <a:lnSpc>
                <a:spcPts val="4981"/>
              </a:lnSpc>
            </a:pPr>
            <a:r>
              <a:rPr lang="en-US" sz="2541" i="true" spc="147">
                <a:solidFill>
                  <a:srgbClr val="231F20"/>
                </a:solidFill>
                <a:latin typeface="Open Sauce Italics"/>
                <a:ea typeface="Open Sauce Italics"/>
                <a:cs typeface="Open Sauce Italics"/>
                <a:sym typeface="Open Sauce Italics"/>
              </a:rPr>
              <a:t>       -  Object Detection &amp; Alerting System</a:t>
            </a:r>
          </a:p>
          <a:p>
            <a:pPr algn="l">
              <a:lnSpc>
                <a:spcPts val="4981"/>
              </a:lnSpc>
            </a:pPr>
            <a:r>
              <a:rPr lang="en-US" sz="2541" i="true" spc="147">
                <a:solidFill>
                  <a:srgbClr val="231F20"/>
                </a:solidFill>
                <a:latin typeface="Open Sauce Italics"/>
                <a:ea typeface="Open Sauce Italics"/>
                <a:cs typeface="Open Sauce Italics"/>
                <a:sym typeface="Open Sauce Italics"/>
              </a:rPr>
              <a:t>       -  Intelligent Driver Support System</a:t>
            </a:r>
          </a:p>
          <a:p>
            <a:pPr algn="l" marL="591852" indent="-295926" lvl="1">
              <a:lnSpc>
                <a:spcPts val="5976"/>
              </a:lnSpc>
              <a:buAutoNum type="arabicPeriod" startAt="1"/>
            </a:pPr>
            <a:r>
              <a:rPr lang="en-US" sz="2741" spc="158">
                <a:solidFill>
                  <a:srgbClr val="231F20"/>
                </a:solidFill>
                <a:latin typeface="Open Sauce"/>
                <a:ea typeface="Open Sauce"/>
                <a:cs typeface="Open Sauce"/>
                <a:sym typeface="Open Sauce"/>
              </a:rPr>
              <a:t>  Commercialization</a:t>
            </a:r>
          </a:p>
          <a:p>
            <a:pPr algn="l">
              <a:lnSpc>
                <a:spcPts val="5540"/>
              </a:lnSpc>
            </a:pPr>
            <a:r>
              <a:rPr lang="en-US" sz="2541" spc="147">
                <a:solidFill>
                  <a:srgbClr val="231F20"/>
                </a:solidFill>
                <a:latin typeface="Open Sauce"/>
                <a:ea typeface="Open Sauce"/>
                <a:cs typeface="Open Sauce"/>
                <a:sym typeface="Open Sauce"/>
              </a:rPr>
              <a:t>       - </a:t>
            </a:r>
            <a:r>
              <a:rPr lang="en-US" sz="2541" i="true" spc="147">
                <a:solidFill>
                  <a:srgbClr val="231F20"/>
                </a:solidFill>
                <a:latin typeface="Open Sauce Italics"/>
                <a:ea typeface="Open Sauce Italics"/>
                <a:cs typeface="Open Sauce Italics"/>
                <a:sym typeface="Open Sauce Italics"/>
              </a:rPr>
              <a:t>Uniqueness of the solution</a:t>
            </a:r>
          </a:p>
          <a:p>
            <a:pPr algn="l">
              <a:lnSpc>
                <a:spcPts val="5540"/>
              </a:lnSpc>
            </a:pPr>
            <a:r>
              <a:rPr lang="en-US" sz="2541" i="true" spc="147">
                <a:solidFill>
                  <a:srgbClr val="231F20"/>
                </a:solidFill>
                <a:latin typeface="Open Sauce Italics"/>
                <a:ea typeface="Open Sauce Italics"/>
                <a:cs typeface="Open Sauce Italics"/>
                <a:sym typeface="Open Sauce Italics"/>
              </a:rPr>
              <a:t>       - Market size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0">
            <a:off x="-528002" y="0"/>
            <a:ext cx="19048322" cy="1963203"/>
            <a:chOff x="0" y="0"/>
            <a:chExt cx="5016842" cy="517058"/>
          </a:xfrm>
        </p:grpSpPr>
        <p:sp>
          <p:nvSpPr>
            <p:cNvPr name="Freeform 3" id="3"/>
            <p:cNvSpPr/>
            <p:nvPr/>
          </p:nvSpPr>
          <p:spPr>
            <a:xfrm flipH="false" flipV="false" rot="0">
              <a:off x="0" y="0"/>
              <a:ext cx="5016842" cy="517058"/>
            </a:xfrm>
            <a:custGeom>
              <a:avLst/>
              <a:gdLst/>
              <a:ahLst/>
              <a:cxnLst/>
              <a:rect r="r" b="b" t="t" l="l"/>
              <a:pathLst>
                <a:path h="517058" w="5016842">
                  <a:moveTo>
                    <a:pt x="0" y="0"/>
                  </a:moveTo>
                  <a:lnTo>
                    <a:pt x="5016842" y="0"/>
                  </a:lnTo>
                  <a:lnTo>
                    <a:pt x="5016842" y="517058"/>
                  </a:lnTo>
                  <a:lnTo>
                    <a:pt x="0" y="517058"/>
                  </a:lnTo>
                  <a:close/>
                </a:path>
              </a:pathLst>
            </a:custGeom>
            <a:solidFill>
              <a:srgbClr val="1C5739"/>
            </a:solidFill>
          </p:spPr>
        </p:sp>
        <p:sp>
          <p:nvSpPr>
            <p:cNvPr name="TextBox 4" id="4"/>
            <p:cNvSpPr txBox="true"/>
            <p:nvPr/>
          </p:nvSpPr>
          <p:spPr>
            <a:xfrm>
              <a:off x="0" y="-19050"/>
              <a:ext cx="5016842" cy="536108"/>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0">
            <a:off x="463816" y="2264064"/>
            <a:ext cx="5554221" cy="636748"/>
            <a:chOff x="0" y="0"/>
            <a:chExt cx="1462840" cy="167703"/>
          </a:xfrm>
        </p:grpSpPr>
        <p:sp>
          <p:nvSpPr>
            <p:cNvPr name="Freeform 6" id="6"/>
            <p:cNvSpPr/>
            <p:nvPr/>
          </p:nvSpPr>
          <p:spPr>
            <a:xfrm flipH="false" flipV="false" rot="0">
              <a:off x="0" y="0"/>
              <a:ext cx="1462840" cy="167703"/>
            </a:xfrm>
            <a:custGeom>
              <a:avLst/>
              <a:gdLst/>
              <a:ahLst/>
              <a:cxnLst/>
              <a:rect r="r" b="b" t="t" l="l"/>
              <a:pathLst>
                <a:path h="167703" w="1462840">
                  <a:moveTo>
                    <a:pt x="0" y="0"/>
                  </a:moveTo>
                  <a:lnTo>
                    <a:pt x="1462840" y="0"/>
                  </a:lnTo>
                  <a:lnTo>
                    <a:pt x="1462840" y="167703"/>
                  </a:lnTo>
                  <a:lnTo>
                    <a:pt x="0" y="167703"/>
                  </a:lnTo>
                  <a:close/>
                </a:path>
              </a:pathLst>
            </a:custGeom>
            <a:solidFill>
              <a:srgbClr val="1C5739"/>
            </a:solidFill>
          </p:spPr>
        </p:sp>
        <p:sp>
          <p:nvSpPr>
            <p:cNvPr name="TextBox 7" id="7"/>
            <p:cNvSpPr txBox="true"/>
            <p:nvPr/>
          </p:nvSpPr>
          <p:spPr>
            <a:xfrm>
              <a:off x="0" y="-47625"/>
              <a:ext cx="1462840" cy="215328"/>
            </a:xfrm>
            <a:prstGeom prst="rect">
              <a:avLst/>
            </a:prstGeom>
          </p:spPr>
          <p:txBody>
            <a:bodyPr anchor="ctr" rtlCol="false" tIns="50800" lIns="50800" bIns="50800" rIns="50800"/>
            <a:lstStyle/>
            <a:p>
              <a:pPr algn="ctr" marL="0" indent="0" lvl="0">
                <a:lnSpc>
                  <a:spcPts val="3424"/>
                </a:lnSpc>
                <a:spcBef>
                  <a:spcPct val="0"/>
                </a:spcBef>
              </a:pPr>
              <a:r>
                <a:rPr lang="en-US" sz="2481" i="true" spc="24">
                  <a:solidFill>
                    <a:srgbClr val="FFFFFF"/>
                  </a:solidFill>
                  <a:latin typeface="Open Sauce Italics"/>
                  <a:ea typeface="Open Sauce Italics"/>
                  <a:cs typeface="Open Sauce Italics"/>
                  <a:sym typeface="Open Sauce Italics"/>
                </a:rPr>
                <a:t>Problems Identified</a:t>
              </a:r>
            </a:p>
          </p:txBody>
        </p:sp>
      </p:grpSp>
      <p:grpSp>
        <p:nvGrpSpPr>
          <p:cNvPr name="Group 8" id="8"/>
          <p:cNvGrpSpPr/>
          <p:nvPr/>
        </p:nvGrpSpPr>
        <p:grpSpPr>
          <a:xfrm rot="0">
            <a:off x="463816" y="2957961"/>
            <a:ext cx="5554221" cy="2877443"/>
            <a:chOff x="0" y="0"/>
            <a:chExt cx="1462840" cy="757845"/>
          </a:xfrm>
        </p:grpSpPr>
        <p:sp>
          <p:nvSpPr>
            <p:cNvPr name="Freeform 9" id="9"/>
            <p:cNvSpPr/>
            <p:nvPr/>
          </p:nvSpPr>
          <p:spPr>
            <a:xfrm flipH="false" flipV="false" rot="0">
              <a:off x="0" y="0"/>
              <a:ext cx="1462840" cy="757845"/>
            </a:xfrm>
            <a:custGeom>
              <a:avLst/>
              <a:gdLst/>
              <a:ahLst/>
              <a:cxnLst/>
              <a:rect r="r" b="b" t="t" l="l"/>
              <a:pathLst>
                <a:path h="757845" w="1462840">
                  <a:moveTo>
                    <a:pt x="0" y="0"/>
                  </a:moveTo>
                  <a:lnTo>
                    <a:pt x="1462840" y="0"/>
                  </a:lnTo>
                  <a:lnTo>
                    <a:pt x="1462840" y="757845"/>
                  </a:lnTo>
                  <a:lnTo>
                    <a:pt x="0" y="757845"/>
                  </a:lnTo>
                  <a:close/>
                </a:path>
              </a:pathLst>
            </a:custGeom>
            <a:solidFill>
              <a:srgbClr val="FFFFFF"/>
            </a:solidFill>
            <a:ln w="38100" cap="sq">
              <a:solidFill>
                <a:srgbClr val="000000"/>
              </a:solidFill>
              <a:prstDash val="solid"/>
              <a:miter/>
            </a:ln>
          </p:spPr>
        </p:sp>
        <p:sp>
          <p:nvSpPr>
            <p:cNvPr name="TextBox 10" id="10"/>
            <p:cNvSpPr txBox="true"/>
            <p:nvPr/>
          </p:nvSpPr>
          <p:spPr>
            <a:xfrm>
              <a:off x="0" y="-38100"/>
              <a:ext cx="1462840" cy="795945"/>
            </a:xfrm>
            <a:prstGeom prst="rect">
              <a:avLst/>
            </a:prstGeom>
          </p:spPr>
          <p:txBody>
            <a:bodyPr anchor="ctr" rtlCol="false" tIns="114300" lIns="114300" bIns="114300" rIns="114300"/>
            <a:lstStyle/>
            <a:p>
              <a:pPr algn="l" marL="431797" indent="-215899" lvl="1">
                <a:lnSpc>
                  <a:spcPts val="2759"/>
                </a:lnSpc>
                <a:buFont typeface="Arial"/>
                <a:buChar char="•"/>
              </a:pPr>
              <a:r>
                <a:rPr lang="en-US" sz="1999" i="true" spc="19">
                  <a:solidFill>
                    <a:srgbClr val="000000"/>
                  </a:solidFill>
                  <a:latin typeface="Open Sauce Italics"/>
                  <a:ea typeface="Open Sauce Italics"/>
                  <a:cs typeface="Open Sauce Italics"/>
                  <a:sym typeface="Open Sauce Italics"/>
                </a:rPr>
                <a:t>T</a:t>
              </a:r>
              <a:r>
                <a:rPr lang="en-US" sz="1999" i="true" spc="19">
                  <a:solidFill>
                    <a:srgbClr val="000000"/>
                  </a:solidFill>
                  <a:latin typeface="Open Sauce Italics"/>
                  <a:ea typeface="Open Sauce Italics"/>
                  <a:cs typeface="Open Sauce Italics"/>
                  <a:sym typeface="Open Sauce Italics"/>
                </a:rPr>
                <a:t>rain overcrowding causes unsafe boarding of passengers &amp; delays.</a:t>
              </a:r>
            </a:p>
            <a:p>
              <a:pPr algn="l" marL="431797" indent="-215899" lvl="1">
                <a:lnSpc>
                  <a:spcPts val="2759"/>
                </a:lnSpc>
                <a:buFont typeface="Arial"/>
                <a:buChar char="•"/>
              </a:pPr>
              <a:r>
                <a:rPr lang="en-US" sz="1999" i="true" spc="19">
                  <a:solidFill>
                    <a:srgbClr val="000000"/>
                  </a:solidFill>
                  <a:latin typeface="Open Sauce Italics"/>
                  <a:ea typeface="Open Sauce Italics"/>
                  <a:cs typeface="Open Sauce Italics"/>
                  <a:sym typeface="Open Sauce Italics"/>
                </a:rPr>
                <a:t>Collisions with humans or animals affects accidents &amp; losses.</a:t>
              </a:r>
            </a:p>
            <a:p>
              <a:pPr algn="l" marL="431797" indent="-215899" lvl="1">
                <a:lnSpc>
                  <a:spcPts val="2759"/>
                </a:lnSpc>
                <a:spcBef>
                  <a:spcPct val="0"/>
                </a:spcBef>
                <a:buFont typeface="Arial"/>
                <a:buChar char="•"/>
              </a:pPr>
              <a:r>
                <a:rPr lang="en-US" sz="1999" i="true" spc="19">
                  <a:solidFill>
                    <a:srgbClr val="000000"/>
                  </a:solidFill>
                  <a:latin typeface="Open Sauce Italics"/>
                  <a:ea typeface="Open Sauce Italics"/>
                  <a:cs typeface="Open Sauce Italics"/>
                  <a:sym typeface="Open Sauce Italics"/>
                </a:rPr>
                <a:t>No real-time detection of train driver fatigue and drowsiness, increasing accident risk.</a:t>
              </a:r>
            </a:p>
          </p:txBody>
        </p:sp>
      </p:grpSp>
      <p:grpSp>
        <p:nvGrpSpPr>
          <p:cNvPr name="Group 11" id="11"/>
          <p:cNvGrpSpPr/>
          <p:nvPr/>
        </p:nvGrpSpPr>
        <p:grpSpPr>
          <a:xfrm rot="0">
            <a:off x="463816" y="6140204"/>
            <a:ext cx="5554221" cy="636748"/>
            <a:chOff x="0" y="0"/>
            <a:chExt cx="1462840" cy="167703"/>
          </a:xfrm>
        </p:grpSpPr>
        <p:sp>
          <p:nvSpPr>
            <p:cNvPr name="Freeform 12" id="12"/>
            <p:cNvSpPr/>
            <p:nvPr/>
          </p:nvSpPr>
          <p:spPr>
            <a:xfrm flipH="false" flipV="false" rot="0">
              <a:off x="0" y="0"/>
              <a:ext cx="1462840" cy="167703"/>
            </a:xfrm>
            <a:custGeom>
              <a:avLst/>
              <a:gdLst/>
              <a:ahLst/>
              <a:cxnLst/>
              <a:rect r="r" b="b" t="t" l="l"/>
              <a:pathLst>
                <a:path h="167703" w="1462840">
                  <a:moveTo>
                    <a:pt x="0" y="0"/>
                  </a:moveTo>
                  <a:lnTo>
                    <a:pt x="1462840" y="0"/>
                  </a:lnTo>
                  <a:lnTo>
                    <a:pt x="1462840" y="167703"/>
                  </a:lnTo>
                  <a:lnTo>
                    <a:pt x="0" y="167703"/>
                  </a:lnTo>
                  <a:close/>
                </a:path>
              </a:pathLst>
            </a:custGeom>
            <a:solidFill>
              <a:srgbClr val="1C5739"/>
            </a:solidFill>
          </p:spPr>
        </p:sp>
        <p:sp>
          <p:nvSpPr>
            <p:cNvPr name="TextBox 13" id="13"/>
            <p:cNvSpPr txBox="true"/>
            <p:nvPr/>
          </p:nvSpPr>
          <p:spPr>
            <a:xfrm>
              <a:off x="0" y="-47625"/>
              <a:ext cx="1462840" cy="215328"/>
            </a:xfrm>
            <a:prstGeom prst="rect">
              <a:avLst/>
            </a:prstGeom>
          </p:spPr>
          <p:txBody>
            <a:bodyPr anchor="ctr" rtlCol="false" tIns="50800" lIns="50800" bIns="50800" rIns="50800"/>
            <a:lstStyle/>
            <a:p>
              <a:pPr algn="ctr" marL="0" indent="0" lvl="0">
                <a:lnSpc>
                  <a:spcPts val="3424"/>
                </a:lnSpc>
                <a:spcBef>
                  <a:spcPct val="0"/>
                </a:spcBef>
              </a:pPr>
              <a:r>
                <a:rPr lang="en-US" sz="2481" i="true" spc="24">
                  <a:solidFill>
                    <a:srgbClr val="FFFFFF"/>
                  </a:solidFill>
                  <a:latin typeface="Open Sauce Italics"/>
                  <a:ea typeface="Open Sauce Italics"/>
                  <a:cs typeface="Open Sauce Italics"/>
                  <a:sym typeface="Open Sauce Italics"/>
                </a:rPr>
                <a:t>Impact </a:t>
              </a:r>
            </a:p>
          </p:txBody>
        </p:sp>
      </p:grpSp>
      <p:grpSp>
        <p:nvGrpSpPr>
          <p:cNvPr name="Group 14" id="14"/>
          <p:cNvGrpSpPr/>
          <p:nvPr/>
        </p:nvGrpSpPr>
        <p:grpSpPr>
          <a:xfrm rot="0">
            <a:off x="6648055" y="4683764"/>
            <a:ext cx="4473739" cy="636748"/>
            <a:chOff x="0" y="0"/>
            <a:chExt cx="1178269" cy="167703"/>
          </a:xfrm>
        </p:grpSpPr>
        <p:sp>
          <p:nvSpPr>
            <p:cNvPr name="Freeform 15" id="15"/>
            <p:cNvSpPr/>
            <p:nvPr/>
          </p:nvSpPr>
          <p:spPr>
            <a:xfrm flipH="false" flipV="false" rot="0">
              <a:off x="0" y="0"/>
              <a:ext cx="1178269" cy="167703"/>
            </a:xfrm>
            <a:custGeom>
              <a:avLst/>
              <a:gdLst/>
              <a:ahLst/>
              <a:cxnLst/>
              <a:rect r="r" b="b" t="t" l="l"/>
              <a:pathLst>
                <a:path h="167703" w="1178269">
                  <a:moveTo>
                    <a:pt x="0" y="0"/>
                  </a:moveTo>
                  <a:lnTo>
                    <a:pt x="1178269" y="0"/>
                  </a:lnTo>
                  <a:lnTo>
                    <a:pt x="1178269" y="167703"/>
                  </a:lnTo>
                  <a:lnTo>
                    <a:pt x="0" y="167703"/>
                  </a:lnTo>
                  <a:close/>
                </a:path>
              </a:pathLst>
            </a:custGeom>
            <a:solidFill>
              <a:srgbClr val="1C5739"/>
            </a:solidFill>
          </p:spPr>
        </p:sp>
        <p:sp>
          <p:nvSpPr>
            <p:cNvPr name="TextBox 16" id="16"/>
            <p:cNvSpPr txBox="true"/>
            <p:nvPr/>
          </p:nvSpPr>
          <p:spPr>
            <a:xfrm>
              <a:off x="0" y="-47625"/>
              <a:ext cx="1178269" cy="215328"/>
            </a:xfrm>
            <a:prstGeom prst="rect">
              <a:avLst/>
            </a:prstGeom>
          </p:spPr>
          <p:txBody>
            <a:bodyPr anchor="ctr" rtlCol="false" tIns="50800" lIns="50800" bIns="50800" rIns="50800"/>
            <a:lstStyle/>
            <a:p>
              <a:pPr algn="ctr" marL="0" indent="0" lvl="0">
                <a:lnSpc>
                  <a:spcPts val="3424"/>
                </a:lnSpc>
                <a:spcBef>
                  <a:spcPct val="0"/>
                </a:spcBef>
              </a:pPr>
              <a:r>
                <a:rPr lang="en-US" sz="2481" i="true" spc="24">
                  <a:solidFill>
                    <a:srgbClr val="FFFFFF"/>
                  </a:solidFill>
                  <a:latin typeface="Open Sauce Italics"/>
                  <a:ea typeface="Open Sauce Italics"/>
                  <a:cs typeface="Open Sauce Italics"/>
                  <a:sym typeface="Open Sauce Italics"/>
                </a:rPr>
                <a:t>Target Group</a:t>
              </a:r>
            </a:p>
          </p:txBody>
        </p:sp>
      </p:grpSp>
      <p:sp>
        <p:nvSpPr>
          <p:cNvPr name="Freeform 17" id="17"/>
          <p:cNvSpPr/>
          <p:nvPr/>
        </p:nvSpPr>
        <p:spPr>
          <a:xfrm flipH="false" flipV="false" rot="0">
            <a:off x="15408481" y="-2153153"/>
            <a:ext cx="4116356" cy="4116356"/>
          </a:xfrm>
          <a:custGeom>
            <a:avLst/>
            <a:gdLst/>
            <a:ahLst/>
            <a:cxnLst/>
            <a:rect r="r" b="b" t="t" l="l"/>
            <a:pathLst>
              <a:path h="4116356" w="4116356">
                <a:moveTo>
                  <a:pt x="0" y="0"/>
                </a:moveTo>
                <a:lnTo>
                  <a:pt x="4116355" y="0"/>
                </a:lnTo>
                <a:lnTo>
                  <a:pt x="4116355" y="4116356"/>
                </a:lnTo>
                <a:lnTo>
                  <a:pt x="0" y="41163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274287" y="247610"/>
            <a:ext cx="1963203" cy="1963203"/>
          </a:xfrm>
          <a:custGeom>
            <a:avLst/>
            <a:gdLst/>
            <a:ahLst/>
            <a:cxnLst/>
            <a:rect r="r" b="b" t="t" l="l"/>
            <a:pathLst>
              <a:path h="1963203" w="1963203">
                <a:moveTo>
                  <a:pt x="0" y="0"/>
                </a:moveTo>
                <a:lnTo>
                  <a:pt x="1963203" y="0"/>
                </a:lnTo>
                <a:lnTo>
                  <a:pt x="1963203" y="1963203"/>
                </a:lnTo>
                <a:lnTo>
                  <a:pt x="0" y="19632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9" id="19"/>
          <p:cNvGrpSpPr/>
          <p:nvPr/>
        </p:nvGrpSpPr>
        <p:grpSpPr>
          <a:xfrm rot="0">
            <a:off x="463816" y="6846949"/>
            <a:ext cx="5554221" cy="2287616"/>
            <a:chOff x="0" y="0"/>
            <a:chExt cx="1462840" cy="602500"/>
          </a:xfrm>
        </p:grpSpPr>
        <p:sp>
          <p:nvSpPr>
            <p:cNvPr name="Freeform 20" id="20"/>
            <p:cNvSpPr/>
            <p:nvPr/>
          </p:nvSpPr>
          <p:spPr>
            <a:xfrm flipH="false" flipV="false" rot="0">
              <a:off x="0" y="0"/>
              <a:ext cx="1462840" cy="602500"/>
            </a:xfrm>
            <a:custGeom>
              <a:avLst/>
              <a:gdLst/>
              <a:ahLst/>
              <a:cxnLst/>
              <a:rect r="r" b="b" t="t" l="l"/>
              <a:pathLst>
                <a:path h="602500" w="1462840">
                  <a:moveTo>
                    <a:pt x="0" y="0"/>
                  </a:moveTo>
                  <a:lnTo>
                    <a:pt x="1462840" y="0"/>
                  </a:lnTo>
                  <a:lnTo>
                    <a:pt x="1462840" y="602500"/>
                  </a:lnTo>
                  <a:lnTo>
                    <a:pt x="0" y="602500"/>
                  </a:lnTo>
                  <a:close/>
                </a:path>
              </a:pathLst>
            </a:custGeom>
            <a:solidFill>
              <a:srgbClr val="FFFFFF"/>
            </a:solidFill>
            <a:ln w="38100" cap="sq">
              <a:solidFill>
                <a:srgbClr val="000000"/>
              </a:solidFill>
              <a:prstDash val="solid"/>
              <a:miter/>
            </a:ln>
          </p:spPr>
        </p:sp>
        <p:sp>
          <p:nvSpPr>
            <p:cNvPr name="TextBox 21" id="21"/>
            <p:cNvSpPr txBox="true"/>
            <p:nvPr/>
          </p:nvSpPr>
          <p:spPr>
            <a:xfrm>
              <a:off x="0" y="-38100"/>
              <a:ext cx="1462840" cy="640600"/>
            </a:xfrm>
            <a:prstGeom prst="rect">
              <a:avLst/>
            </a:prstGeom>
          </p:spPr>
          <p:txBody>
            <a:bodyPr anchor="ctr" rtlCol="false" tIns="114300" lIns="114300" bIns="114300" rIns="114300"/>
            <a:lstStyle/>
            <a:p>
              <a:pPr algn="l" marL="431801" indent="-215900" lvl="1">
                <a:lnSpc>
                  <a:spcPts val="2760"/>
                </a:lnSpc>
                <a:buFont typeface="Arial"/>
                <a:buChar char="•"/>
              </a:pPr>
              <a:r>
                <a:rPr lang="en-US" sz="2000" i="true" spc="20">
                  <a:solidFill>
                    <a:srgbClr val="000000"/>
                  </a:solidFill>
                  <a:latin typeface="Open Sauce Italics"/>
                  <a:ea typeface="Open Sauce Italics"/>
                  <a:cs typeface="Open Sauce Italics"/>
                  <a:sym typeface="Open Sauce Italics"/>
                </a:rPr>
                <a:t>Imp</a:t>
              </a:r>
              <a:r>
                <a:rPr lang="en-US" sz="2000" i="true" spc="20">
                  <a:solidFill>
                    <a:srgbClr val="000000"/>
                  </a:solidFill>
                  <a:latin typeface="Open Sauce Italics"/>
                  <a:ea typeface="Open Sauce Italics"/>
                  <a:cs typeface="Open Sauce Italics"/>
                  <a:sym typeface="Open Sauce Italics"/>
                </a:rPr>
                <a:t>roves passenger flow with real time guidance.</a:t>
              </a:r>
            </a:p>
            <a:p>
              <a:pPr algn="l" marL="431801" indent="-215900" lvl="1">
                <a:lnSpc>
                  <a:spcPts val="2760"/>
                </a:lnSpc>
                <a:buFont typeface="Arial"/>
                <a:buChar char="•"/>
              </a:pPr>
              <a:r>
                <a:rPr lang="en-US" sz="2000" i="true" spc="20">
                  <a:solidFill>
                    <a:srgbClr val="000000"/>
                  </a:solidFill>
                  <a:latin typeface="Open Sauce Italics"/>
                  <a:ea typeface="Open Sauce Italics"/>
                  <a:cs typeface="Open Sauce Italics"/>
                  <a:sym typeface="Open Sauce Italics"/>
                </a:rPr>
                <a:t>Reduces accidents using smart systems.</a:t>
              </a:r>
            </a:p>
            <a:p>
              <a:pPr algn="l" marL="431801" indent="-215900" lvl="1">
                <a:lnSpc>
                  <a:spcPts val="2760"/>
                </a:lnSpc>
                <a:buFont typeface="Arial"/>
                <a:buChar char="•"/>
              </a:pPr>
              <a:r>
                <a:rPr lang="en-US" sz="2000" i="true" spc="20">
                  <a:solidFill>
                    <a:srgbClr val="000000"/>
                  </a:solidFill>
                  <a:latin typeface="Open Sauce Italics"/>
                  <a:ea typeface="Open Sauce Italics"/>
                  <a:cs typeface="Open Sauce Italics"/>
                  <a:sym typeface="Open Sauce Italics"/>
                </a:rPr>
                <a:t>Enhances safety management</a:t>
              </a:r>
            </a:p>
          </p:txBody>
        </p:sp>
      </p:grpSp>
      <p:grpSp>
        <p:nvGrpSpPr>
          <p:cNvPr name="Group 22" id="22"/>
          <p:cNvGrpSpPr/>
          <p:nvPr/>
        </p:nvGrpSpPr>
        <p:grpSpPr>
          <a:xfrm rot="0">
            <a:off x="6648055" y="5377662"/>
            <a:ext cx="4473739" cy="1732665"/>
            <a:chOff x="0" y="0"/>
            <a:chExt cx="1178269" cy="456340"/>
          </a:xfrm>
        </p:grpSpPr>
        <p:sp>
          <p:nvSpPr>
            <p:cNvPr name="Freeform 23" id="23"/>
            <p:cNvSpPr/>
            <p:nvPr/>
          </p:nvSpPr>
          <p:spPr>
            <a:xfrm flipH="false" flipV="false" rot="0">
              <a:off x="0" y="0"/>
              <a:ext cx="1178269" cy="456340"/>
            </a:xfrm>
            <a:custGeom>
              <a:avLst/>
              <a:gdLst/>
              <a:ahLst/>
              <a:cxnLst/>
              <a:rect r="r" b="b" t="t" l="l"/>
              <a:pathLst>
                <a:path h="456340" w="1178269">
                  <a:moveTo>
                    <a:pt x="0" y="0"/>
                  </a:moveTo>
                  <a:lnTo>
                    <a:pt x="1178269" y="0"/>
                  </a:lnTo>
                  <a:lnTo>
                    <a:pt x="1178269" y="456340"/>
                  </a:lnTo>
                  <a:lnTo>
                    <a:pt x="0" y="456340"/>
                  </a:lnTo>
                  <a:close/>
                </a:path>
              </a:pathLst>
            </a:custGeom>
            <a:solidFill>
              <a:srgbClr val="FFFFFF"/>
            </a:solidFill>
            <a:ln w="38100" cap="sq">
              <a:solidFill>
                <a:srgbClr val="000000"/>
              </a:solidFill>
              <a:prstDash val="solid"/>
              <a:miter/>
            </a:ln>
          </p:spPr>
        </p:sp>
        <p:sp>
          <p:nvSpPr>
            <p:cNvPr name="TextBox 24" id="24"/>
            <p:cNvSpPr txBox="true"/>
            <p:nvPr/>
          </p:nvSpPr>
          <p:spPr>
            <a:xfrm>
              <a:off x="0" y="-38100"/>
              <a:ext cx="1178269" cy="494440"/>
            </a:xfrm>
            <a:prstGeom prst="rect">
              <a:avLst/>
            </a:prstGeom>
          </p:spPr>
          <p:txBody>
            <a:bodyPr anchor="ctr" rtlCol="false" tIns="114300" lIns="114300" bIns="114300" rIns="114300"/>
            <a:lstStyle/>
            <a:p>
              <a:pPr algn="just" marL="431801" indent="-215900" lvl="1">
                <a:lnSpc>
                  <a:spcPts val="2760"/>
                </a:lnSpc>
                <a:buFont typeface="Arial"/>
                <a:buChar char="•"/>
              </a:pPr>
              <a:r>
                <a:rPr lang="en-US" sz="2000" i="true" spc="20">
                  <a:solidFill>
                    <a:srgbClr val="000000"/>
                  </a:solidFill>
                  <a:latin typeface="Open Sauce Italics"/>
                  <a:ea typeface="Open Sauce Italics"/>
                  <a:cs typeface="Open Sauce Italics"/>
                  <a:sym typeface="Open Sauce Italics"/>
                </a:rPr>
                <a:t>Ra</a:t>
              </a:r>
              <a:r>
                <a:rPr lang="en-US" sz="2000" i="true" spc="20">
                  <a:solidFill>
                    <a:srgbClr val="000000"/>
                  </a:solidFill>
                  <a:latin typeface="Open Sauce Italics"/>
                  <a:ea typeface="Open Sauce Italics"/>
                  <a:cs typeface="Open Sauce Italics"/>
                  <a:sym typeface="Open Sauce Italics"/>
                </a:rPr>
                <a:t>ilway operators</a:t>
              </a:r>
            </a:p>
            <a:p>
              <a:pPr algn="just" marL="431801" indent="-215900" lvl="1">
                <a:lnSpc>
                  <a:spcPts val="2760"/>
                </a:lnSpc>
                <a:buFont typeface="Arial"/>
                <a:buChar char="•"/>
              </a:pPr>
              <a:r>
                <a:rPr lang="en-US" sz="2000" i="true" spc="20">
                  <a:solidFill>
                    <a:srgbClr val="000000"/>
                  </a:solidFill>
                  <a:latin typeface="Open Sauce Italics"/>
                  <a:ea typeface="Open Sauce Italics"/>
                  <a:cs typeface="Open Sauce Italics"/>
                  <a:sym typeface="Open Sauce Italics"/>
                </a:rPr>
                <a:t>Train drivers</a:t>
              </a:r>
            </a:p>
            <a:p>
              <a:pPr algn="just" marL="431801" indent="-215900" lvl="1">
                <a:lnSpc>
                  <a:spcPts val="2760"/>
                </a:lnSpc>
                <a:buFont typeface="Arial"/>
                <a:buChar char="•"/>
              </a:pPr>
              <a:r>
                <a:rPr lang="en-US" sz="2000" i="true" spc="20">
                  <a:solidFill>
                    <a:srgbClr val="000000"/>
                  </a:solidFill>
                  <a:latin typeface="Open Sauce Italics"/>
                  <a:ea typeface="Open Sauce Italics"/>
                  <a:cs typeface="Open Sauce Italics"/>
                  <a:sym typeface="Open Sauce Italics"/>
                </a:rPr>
                <a:t>Station management staff</a:t>
              </a:r>
            </a:p>
            <a:p>
              <a:pPr algn="just" marL="0" indent="0" lvl="0">
                <a:lnSpc>
                  <a:spcPts val="2760"/>
                </a:lnSpc>
                <a:spcBef>
                  <a:spcPct val="0"/>
                </a:spcBef>
              </a:pPr>
            </a:p>
          </p:txBody>
        </p:sp>
      </p:grpSp>
      <p:sp>
        <p:nvSpPr>
          <p:cNvPr name="Freeform 25" id="25"/>
          <p:cNvSpPr/>
          <p:nvPr/>
        </p:nvSpPr>
        <p:spPr>
          <a:xfrm flipH="false" flipV="false" rot="0">
            <a:off x="11751813" y="2210813"/>
            <a:ext cx="5980375" cy="7368716"/>
          </a:xfrm>
          <a:custGeom>
            <a:avLst/>
            <a:gdLst/>
            <a:ahLst/>
            <a:cxnLst/>
            <a:rect r="r" b="b" t="t" l="l"/>
            <a:pathLst>
              <a:path h="7368716" w="5980375">
                <a:moveTo>
                  <a:pt x="0" y="0"/>
                </a:moveTo>
                <a:lnTo>
                  <a:pt x="5980375" y="0"/>
                </a:lnTo>
                <a:lnTo>
                  <a:pt x="5980375" y="7368717"/>
                </a:lnTo>
                <a:lnTo>
                  <a:pt x="0" y="7368717"/>
                </a:lnTo>
                <a:lnTo>
                  <a:pt x="0" y="0"/>
                </a:lnTo>
                <a:close/>
              </a:path>
            </a:pathLst>
          </a:custGeom>
          <a:blipFill>
            <a:blip r:embed="rId4"/>
            <a:stretch>
              <a:fillRect l="-83560" t="0" r="0" b="0"/>
            </a:stretch>
          </a:blipFill>
        </p:spPr>
      </p:sp>
      <p:sp>
        <p:nvSpPr>
          <p:cNvPr name="TextBox 26" id="26"/>
          <p:cNvSpPr txBox="true"/>
          <p:nvPr/>
        </p:nvSpPr>
        <p:spPr>
          <a:xfrm rot="0">
            <a:off x="3639339" y="223359"/>
            <a:ext cx="10713642" cy="1404684"/>
          </a:xfrm>
          <a:prstGeom prst="rect">
            <a:avLst/>
          </a:prstGeom>
        </p:spPr>
        <p:txBody>
          <a:bodyPr anchor="t" rtlCol="false" tIns="0" lIns="0" bIns="0" rIns="0">
            <a:spAutoFit/>
          </a:bodyPr>
          <a:lstStyle/>
          <a:p>
            <a:pPr algn="ctr">
              <a:lnSpc>
                <a:spcPts val="10886"/>
              </a:lnSpc>
            </a:pPr>
            <a:r>
              <a:rPr lang="en-US" sz="7888" spc="773">
                <a:solidFill>
                  <a:srgbClr val="FFFFFF"/>
                </a:solidFill>
                <a:latin typeface="Poppins"/>
                <a:ea typeface="Poppins"/>
                <a:cs typeface="Poppins"/>
                <a:sym typeface="Poppins"/>
              </a:rPr>
              <a:t>Overview</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528002" y="0"/>
            <a:ext cx="19048322" cy="1963203"/>
            <a:chOff x="0" y="0"/>
            <a:chExt cx="5016842" cy="517058"/>
          </a:xfrm>
        </p:grpSpPr>
        <p:sp>
          <p:nvSpPr>
            <p:cNvPr name="Freeform 4" id="4"/>
            <p:cNvSpPr/>
            <p:nvPr/>
          </p:nvSpPr>
          <p:spPr>
            <a:xfrm flipH="false" flipV="false" rot="0">
              <a:off x="0" y="0"/>
              <a:ext cx="5016842" cy="517058"/>
            </a:xfrm>
            <a:custGeom>
              <a:avLst/>
              <a:gdLst/>
              <a:ahLst/>
              <a:cxnLst/>
              <a:rect r="r" b="b" t="t" l="l"/>
              <a:pathLst>
                <a:path h="517058" w="5016842">
                  <a:moveTo>
                    <a:pt x="0" y="0"/>
                  </a:moveTo>
                  <a:lnTo>
                    <a:pt x="5016842" y="0"/>
                  </a:lnTo>
                  <a:lnTo>
                    <a:pt x="5016842" y="517058"/>
                  </a:lnTo>
                  <a:lnTo>
                    <a:pt x="0" y="517058"/>
                  </a:lnTo>
                  <a:close/>
                </a:path>
              </a:pathLst>
            </a:custGeom>
            <a:solidFill>
              <a:srgbClr val="1C5739"/>
            </a:solidFill>
          </p:spPr>
        </p:sp>
        <p:sp>
          <p:nvSpPr>
            <p:cNvPr name="TextBox 5" id="5"/>
            <p:cNvSpPr txBox="true"/>
            <p:nvPr/>
          </p:nvSpPr>
          <p:spPr>
            <a:xfrm>
              <a:off x="0" y="-19050"/>
              <a:ext cx="5016842" cy="536108"/>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15408481" y="-2153153"/>
            <a:ext cx="4116356" cy="4116356"/>
          </a:xfrm>
          <a:custGeom>
            <a:avLst/>
            <a:gdLst/>
            <a:ahLst/>
            <a:cxnLst/>
            <a:rect r="r" b="b" t="t" l="l"/>
            <a:pathLst>
              <a:path h="4116356" w="4116356">
                <a:moveTo>
                  <a:pt x="0" y="0"/>
                </a:moveTo>
                <a:lnTo>
                  <a:pt x="4116355" y="0"/>
                </a:lnTo>
                <a:lnTo>
                  <a:pt x="4116355" y="4116356"/>
                </a:lnTo>
                <a:lnTo>
                  <a:pt x="0" y="41163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274287" y="247610"/>
            <a:ext cx="1963203" cy="1963203"/>
          </a:xfrm>
          <a:custGeom>
            <a:avLst/>
            <a:gdLst/>
            <a:ahLst/>
            <a:cxnLst/>
            <a:rect r="r" b="b" t="t" l="l"/>
            <a:pathLst>
              <a:path h="1963203" w="1963203">
                <a:moveTo>
                  <a:pt x="0" y="0"/>
                </a:moveTo>
                <a:lnTo>
                  <a:pt x="1963203" y="0"/>
                </a:lnTo>
                <a:lnTo>
                  <a:pt x="1963203" y="1963203"/>
                </a:lnTo>
                <a:lnTo>
                  <a:pt x="0" y="19632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128539" y="2664223"/>
            <a:ext cx="3310431" cy="3094979"/>
          </a:xfrm>
          <a:custGeom>
            <a:avLst/>
            <a:gdLst/>
            <a:ahLst/>
            <a:cxnLst/>
            <a:rect r="r" b="b" t="t" l="l"/>
            <a:pathLst>
              <a:path h="3094979" w="3310431">
                <a:moveTo>
                  <a:pt x="0" y="0"/>
                </a:moveTo>
                <a:lnTo>
                  <a:pt x="3310432" y="0"/>
                </a:lnTo>
                <a:lnTo>
                  <a:pt x="3310432" y="3094979"/>
                </a:lnTo>
                <a:lnTo>
                  <a:pt x="0" y="3094979"/>
                </a:lnTo>
                <a:lnTo>
                  <a:pt x="0" y="0"/>
                </a:lnTo>
                <a:close/>
              </a:path>
            </a:pathLst>
          </a:custGeom>
          <a:blipFill>
            <a:blip r:embed="rId5"/>
            <a:stretch>
              <a:fillRect l="-10192" t="-5104" r="-10192" b="0"/>
            </a:stretch>
          </a:blipFill>
        </p:spPr>
      </p:sp>
      <p:sp>
        <p:nvSpPr>
          <p:cNvPr name="Freeform 9" id="9"/>
          <p:cNvSpPr/>
          <p:nvPr/>
        </p:nvSpPr>
        <p:spPr>
          <a:xfrm flipH="false" flipV="false" rot="0">
            <a:off x="6781174" y="2732116"/>
            <a:ext cx="4725652" cy="3365487"/>
          </a:xfrm>
          <a:custGeom>
            <a:avLst/>
            <a:gdLst/>
            <a:ahLst/>
            <a:cxnLst/>
            <a:rect r="r" b="b" t="t" l="l"/>
            <a:pathLst>
              <a:path h="3365487" w="4725652">
                <a:moveTo>
                  <a:pt x="0" y="0"/>
                </a:moveTo>
                <a:lnTo>
                  <a:pt x="4725652" y="0"/>
                </a:lnTo>
                <a:lnTo>
                  <a:pt x="4725652" y="3365486"/>
                </a:lnTo>
                <a:lnTo>
                  <a:pt x="0" y="3365486"/>
                </a:lnTo>
                <a:lnTo>
                  <a:pt x="0" y="0"/>
                </a:lnTo>
                <a:close/>
              </a:path>
            </a:pathLst>
          </a:custGeom>
          <a:blipFill>
            <a:blip r:embed="rId6"/>
            <a:stretch>
              <a:fillRect l="-124" t="0" r="-124" b="0"/>
            </a:stretch>
          </a:blipFill>
        </p:spPr>
      </p:sp>
      <p:sp>
        <p:nvSpPr>
          <p:cNvPr name="Freeform 10" id="10"/>
          <p:cNvSpPr/>
          <p:nvPr/>
        </p:nvSpPr>
        <p:spPr>
          <a:xfrm flipH="false" flipV="false" rot="0">
            <a:off x="420929" y="6565553"/>
            <a:ext cx="4725652" cy="2692747"/>
          </a:xfrm>
          <a:custGeom>
            <a:avLst/>
            <a:gdLst/>
            <a:ahLst/>
            <a:cxnLst/>
            <a:rect r="r" b="b" t="t" l="l"/>
            <a:pathLst>
              <a:path h="2692747" w="4725652">
                <a:moveTo>
                  <a:pt x="0" y="0"/>
                </a:moveTo>
                <a:lnTo>
                  <a:pt x="4725652" y="0"/>
                </a:lnTo>
                <a:lnTo>
                  <a:pt x="4725652" y="2692747"/>
                </a:lnTo>
                <a:lnTo>
                  <a:pt x="0" y="2692747"/>
                </a:lnTo>
                <a:lnTo>
                  <a:pt x="0" y="0"/>
                </a:lnTo>
                <a:close/>
              </a:path>
            </a:pathLst>
          </a:custGeom>
          <a:blipFill>
            <a:blip r:embed="rId7"/>
            <a:stretch>
              <a:fillRect l="-3510" t="-9706" r="-3510" b="-15277"/>
            </a:stretch>
          </a:blipFill>
        </p:spPr>
      </p:sp>
      <p:grpSp>
        <p:nvGrpSpPr>
          <p:cNvPr name="Group 11" id="11"/>
          <p:cNvGrpSpPr/>
          <p:nvPr/>
        </p:nvGrpSpPr>
        <p:grpSpPr>
          <a:xfrm rot="0">
            <a:off x="6521472" y="6694628"/>
            <a:ext cx="6368494" cy="2877443"/>
            <a:chOff x="0" y="0"/>
            <a:chExt cx="1677299" cy="757845"/>
          </a:xfrm>
        </p:grpSpPr>
        <p:sp>
          <p:nvSpPr>
            <p:cNvPr name="Freeform 12" id="12"/>
            <p:cNvSpPr/>
            <p:nvPr/>
          </p:nvSpPr>
          <p:spPr>
            <a:xfrm flipH="false" flipV="false" rot="0">
              <a:off x="0" y="0"/>
              <a:ext cx="1677299" cy="757845"/>
            </a:xfrm>
            <a:custGeom>
              <a:avLst/>
              <a:gdLst/>
              <a:ahLst/>
              <a:cxnLst/>
              <a:rect r="r" b="b" t="t" l="l"/>
              <a:pathLst>
                <a:path h="757845" w="1677299">
                  <a:moveTo>
                    <a:pt x="0" y="0"/>
                  </a:moveTo>
                  <a:lnTo>
                    <a:pt x="1677299" y="0"/>
                  </a:lnTo>
                  <a:lnTo>
                    <a:pt x="1677299" y="757845"/>
                  </a:lnTo>
                  <a:lnTo>
                    <a:pt x="0" y="757845"/>
                  </a:lnTo>
                  <a:close/>
                </a:path>
              </a:pathLst>
            </a:custGeom>
            <a:solidFill>
              <a:srgbClr val="FFFFFF"/>
            </a:solidFill>
            <a:ln cap="sq">
              <a:noFill/>
              <a:prstDash val="solid"/>
              <a:miter/>
            </a:ln>
          </p:spPr>
        </p:sp>
        <p:sp>
          <p:nvSpPr>
            <p:cNvPr name="TextBox 13" id="13"/>
            <p:cNvSpPr txBox="true"/>
            <p:nvPr/>
          </p:nvSpPr>
          <p:spPr>
            <a:xfrm>
              <a:off x="0" y="-38100"/>
              <a:ext cx="1677299" cy="795945"/>
            </a:xfrm>
            <a:prstGeom prst="rect">
              <a:avLst/>
            </a:prstGeom>
          </p:spPr>
          <p:txBody>
            <a:bodyPr anchor="ctr" rtlCol="false" tIns="114300" lIns="114300" bIns="114300" rIns="114300"/>
            <a:lstStyle/>
            <a:p>
              <a:pPr algn="l" marL="431797" indent="-215899" lvl="1">
                <a:lnSpc>
                  <a:spcPts val="2759"/>
                </a:lnSpc>
                <a:buFont typeface="Arial"/>
                <a:buChar char="•"/>
              </a:pPr>
              <a:r>
                <a:rPr lang="en-US" sz="1999" i="true" spc="19">
                  <a:solidFill>
                    <a:srgbClr val="000000"/>
                  </a:solidFill>
                  <a:latin typeface="Open Sauce Italics"/>
                  <a:ea typeface="Open Sauce Italics"/>
                  <a:cs typeface="Open Sauce Italics"/>
                  <a:sym typeface="Open Sauce Italics"/>
                </a:rPr>
                <a:t>Re</a:t>
              </a:r>
              <a:r>
                <a:rPr lang="en-US" sz="1999" i="true" spc="19">
                  <a:solidFill>
                    <a:srgbClr val="000000"/>
                  </a:solidFill>
                  <a:latin typeface="Open Sauce Italics"/>
                  <a:ea typeface="Open Sauce Italics"/>
                  <a:cs typeface="Open Sauce Italics"/>
                  <a:sym typeface="Open Sauce Italics"/>
                </a:rPr>
                <a:t>al-time AI processing hub</a:t>
              </a:r>
            </a:p>
            <a:p>
              <a:pPr algn="l">
                <a:lnSpc>
                  <a:spcPts val="2759"/>
                </a:lnSpc>
              </a:pPr>
            </a:p>
            <a:p>
              <a:pPr algn="l" marL="431797" indent="-215899" lvl="1">
                <a:lnSpc>
                  <a:spcPts val="2759"/>
                </a:lnSpc>
                <a:buFont typeface="Arial"/>
                <a:buChar char="•"/>
              </a:pPr>
              <a:r>
                <a:rPr lang="en-US" sz="1999" i="true" spc="19">
                  <a:solidFill>
                    <a:srgbClr val="000000"/>
                  </a:solidFill>
                  <a:latin typeface="Open Sauce Italics"/>
                  <a:ea typeface="Open Sauce Italics"/>
                  <a:cs typeface="Open Sauce Italics"/>
                  <a:sym typeface="Open Sauce Italics"/>
                </a:rPr>
                <a:t>Privacy-preserving (no identity storage)</a:t>
              </a:r>
            </a:p>
            <a:p>
              <a:pPr algn="l">
                <a:lnSpc>
                  <a:spcPts val="2759"/>
                </a:lnSpc>
              </a:pPr>
            </a:p>
            <a:p>
              <a:pPr algn="l" marL="431797" indent="-215899" lvl="1">
                <a:lnSpc>
                  <a:spcPts val="2759"/>
                </a:lnSpc>
                <a:spcBef>
                  <a:spcPct val="0"/>
                </a:spcBef>
                <a:buFont typeface="Arial"/>
                <a:buChar char="•"/>
              </a:pPr>
              <a:r>
                <a:rPr lang="en-US" sz="1999" i="true" spc="19">
                  <a:solidFill>
                    <a:srgbClr val="000000"/>
                  </a:solidFill>
                  <a:latin typeface="Open Sauce Italics"/>
                  <a:ea typeface="Open Sauce Italics"/>
                  <a:cs typeface="Open Sauce Italics"/>
                  <a:sym typeface="Open Sauce Italics"/>
                </a:rPr>
                <a:t>Integrates crowd, obstacle &amp; driver safety into one system</a:t>
              </a:r>
            </a:p>
          </p:txBody>
        </p:sp>
      </p:grpSp>
      <p:sp>
        <p:nvSpPr>
          <p:cNvPr name="Freeform 14" id="14"/>
          <p:cNvSpPr/>
          <p:nvPr/>
        </p:nvSpPr>
        <p:spPr>
          <a:xfrm flipH="false" flipV="false" rot="0">
            <a:off x="12240251" y="3098563"/>
            <a:ext cx="5902819" cy="2872253"/>
          </a:xfrm>
          <a:custGeom>
            <a:avLst/>
            <a:gdLst/>
            <a:ahLst/>
            <a:cxnLst/>
            <a:rect r="r" b="b" t="t" l="l"/>
            <a:pathLst>
              <a:path h="2872253" w="5902819">
                <a:moveTo>
                  <a:pt x="0" y="0"/>
                </a:moveTo>
                <a:lnTo>
                  <a:pt x="5902820" y="0"/>
                </a:lnTo>
                <a:lnTo>
                  <a:pt x="5902820" y="2872253"/>
                </a:lnTo>
                <a:lnTo>
                  <a:pt x="0" y="2872253"/>
                </a:lnTo>
                <a:lnTo>
                  <a:pt x="0" y="0"/>
                </a:lnTo>
                <a:close/>
              </a:path>
            </a:pathLst>
          </a:custGeom>
          <a:blipFill>
            <a:blip r:embed="rId8"/>
            <a:stretch>
              <a:fillRect l="-3744" t="0" r="0" b="0"/>
            </a:stretch>
          </a:blipFill>
          <a:ln w="38100" cap="sq">
            <a:solidFill>
              <a:srgbClr val="000000"/>
            </a:solidFill>
            <a:prstDash val="solid"/>
            <a:miter/>
          </a:ln>
        </p:spPr>
      </p:sp>
      <p:sp>
        <p:nvSpPr>
          <p:cNvPr name="TextBox 15" id="15"/>
          <p:cNvSpPr txBox="true"/>
          <p:nvPr/>
        </p:nvSpPr>
        <p:spPr>
          <a:xfrm rot="0">
            <a:off x="3639339" y="-87866"/>
            <a:ext cx="10713642" cy="1986534"/>
          </a:xfrm>
          <a:prstGeom prst="rect">
            <a:avLst/>
          </a:prstGeom>
        </p:spPr>
        <p:txBody>
          <a:bodyPr anchor="t" rtlCol="false" tIns="0" lIns="0" bIns="0" rIns="0">
            <a:spAutoFit/>
          </a:bodyPr>
          <a:lstStyle/>
          <a:p>
            <a:pPr algn="ctr">
              <a:lnSpc>
                <a:spcPts val="7728"/>
              </a:lnSpc>
            </a:pPr>
            <a:r>
              <a:rPr lang="en-US" sz="5600" spc="548">
                <a:solidFill>
                  <a:srgbClr val="FFFFFF"/>
                </a:solidFill>
                <a:latin typeface="Poppins"/>
                <a:ea typeface="Poppins"/>
                <a:cs typeface="Poppins"/>
                <a:sym typeface="Poppins"/>
              </a:rPr>
              <a:t>Design Excellance of Overall Project</a:t>
            </a:r>
          </a:p>
        </p:txBody>
      </p:sp>
      <p:sp>
        <p:nvSpPr>
          <p:cNvPr name="TextBox 16" id="16"/>
          <p:cNvSpPr txBox="true"/>
          <p:nvPr/>
        </p:nvSpPr>
        <p:spPr>
          <a:xfrm rot="0">
            <a:off x="420929" y="2172713"/>
            <a:ext cx="5630355" cy="335280"/>
          </a:xfrm>
          <a:prstGeom prst="rect">
            <a:avLst/>
          </a:prstGeom>
        </p:spPr>
        <p:txBody>
          <a:bodyPr anchor="t" rtlCol="false" tIns="0" lIns="0" bIns="0" rIns="0">
            <a:spAutoFit/>
          </a:bodyPr>
          <a:lstStyle/>
          <a:p>
            <a:pPr algn="l">
              <a:lnSpc>
                <a:spcPts val="2760"/>
              </a:lnSpc>
            </a:pPr>
            <a:r>
              <a:rPr lang="en-US" b="true" sz="2000" i="true" spc="104">
                <a:solidFill>
                  <a:srgbClr val="231F20"/>
                </a:solidFill>
                <a:latin typeface="Open Sauce Bold Italics"/>
                <a:ea typeface="Open Sauce Bold Italics"/>
                <a:cs typeface="Open Sauce Bold Italics"/>
                <a:sym typeface="Open Sauce Bold Italics"/>
              </a:rPr>
              <a:t>Compartment Crowd Density Detection</a:t>
            </a:r>
          </a:p>
        </p:txBody>
      </p:sp>
      <p:sp>
        <p:nvSpPr>
          <p:cNvPr name="TextBox 17" id="17"/>
          <p:cNvSpPr txBox="true"/>
          <p:nvPr/>
        </p:nvSpPr>
        <p:spPr>
          <a:xfrm rot="0">
            <a:off x="7035474" y="2172733"/>
            <a:ext cx="5630355" cy="335280"/>
          </a:xfrm>
          <a:prstGeom prst="rect">
            <a:avLst/>
          </a:prstGeom>
        </p:spPr>
        <p:txBody>
          <a:bodyPr anchor="t" rtlCol="false" tIns="0" lIns="0" bIns="0" rIns="0">
            <a:spAutoFit/>
          </a:bodyPr>
          <a:lstStyle/>
          <a:p>
            <a:pPr algn="l">
              <a:lnSpc>
                <a:spcPts val="2760"/>
              </a:lnSpc>
            </a:pPr>
            <a:r>
              <a:rPr lang="en-US" b="true" sz="2000" i="true" spc="104">
                <a:solidFill>
                  <a:srgbClr val="231F20"/>
                </a:solidFill>
                <a:latin typeface="Open Sauce Bold Italics"/>
                <a:ea typeface="Open Sauce Bold Italics"/>
                <a:cs typeface="Open Sauce Bold Italics"/>
                <a:sym typeface="Open Sauce Bold Italics"/>
              </a:rPr>
              <a:t>Platform Compartment Alignment</a:t>
            </a:r>
          </a:p>
        </p:txBody>
      </p:sp>
      <p:sp>
        <p:nvSpPr>
          <p:cNvPr name="TextBox 18" id="18"/>
          <p:cNvSpPr txBox="true"/>
          <p:nvPr/>
        </p:nvSpPr>
        <p:spPr>
          <a:xfrm rot="0">
            <a:off x="420929" y="6059502"/>
            <a:ext cx="5630355" cy="335280"/>
          </a:xfrm>
          <a:prstGeom prst="rect">
            <a:avLst/>
          </a:prstGeom>
        </p:spPr>
        <p:txBody>
          <a:bodyPr anchor="t" rtlCol="false" tIns="0" lIns="0" bIns="0" rIns="0">
            <a:spAutoFit/>
          </a:bodyPr>
          <a:lstStyle/>
          <a:p>
            <a:pPr algn="l">
              <a:lnSpc>
                <a:spcPts val="2760"/>
              </a:lnSpc>
            </a:pPr>
            <a:r>
              <a:rPr lang="en-US" b="true" sz="2000" i="true" spc="104">
                <a:solidFill>
                  <a:srgbClr val="231F20"/>
                </a:solidFill>
                <a:latin typeface="Open Sauce Bold Italics"/>
                <a:ea typeface="Open Sauce Bold Italics"/>
                <a:cs typeface="Open Sauce Bold Italics"/>
                <a:sym typeface="Open Sauce Bold Italics"/>
              </a:rPr>
              <a:t>Intelligent Driver Support system</a:t>
            </a:r>
          </a:p>
        </p:txBody>
      </p:sp>
      <p:sp>
        <p:nvSpPr>
          <p:cNvPr name="TextBox 19" id="19"/>
          <p:cNvSpPr txBox="true"/>
          <p:nvPr/>
        </p:nvSpPr>
        <p:spPr>
          <a:xfrm rot="0">
            <a:off x="12889965" y="2172733"/>
            <a:ext cx="5630355" cy="678180"/>
          </a:xfrm>
          <a:prstGeom prst="rect">
            <a:avLst/>
          </a:prstGeom>
        </p:spPr>
        <p:txBody>
          <a:bodyPr anchor="t" rtlCol="false" tIns="0" lIns="0" bIns="0" rIns="0">
            <a:spAutoFit/>
          </a:bodyPr>
          <a:lstStyle/>
          <a:p>
            <a:pPr algn="l">
              <a:lnSpc>
                <a:spcPts val="2760"/>
              </a:lnSpc>
            </a:pPr>
            <a:r>
              <a:rPr lang="en-US" b="true" sz="2000" i="true" spc="104">
                <a:solidFill>
                  <a:srgbClr val="231F20"/>
                </a:solidFill>
                <a:latin typeface="Open Sauce Bold Italics"/>
                <a:ea typeface="Open Sauce Bold Italics"/>
                <a:cs typeface="Open Sauce Bold Italics"/>
                <a:sym typeface="Open Sauce Bold Italics"/>
              </a:rPr>
              <a:t>Real-Time Obstacle Detection &amp; Alerting System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a:grpSpLocks noChangeAspect="true"/>
          </p:cNvGrpSpPr>
          <p:nvPr/>
        </p:nvGrpSpPr>
        <p:grpSpPr>
          <a:xfrm rot="0">
            <a:off x="12245150" y="3079364"/>
            <a:ext cx="5014150" cy="4994563"/>
            <a:chOff x="0" y="0"/>
            <a:chExt cx="6502400" cy="6477000"/>
          </a:xfrm>
        </p:grpSpPr>
        <p:sp>
          <p:nvSpPr>
            <p:cNvPr name="Freeform 4" id="4"/>
            <p:cNvSpPr/>
            <p:nvPr/>
          </p:nvSpPr>
          <p:spPr>
            <a:xfrm flipH="false" flipV="false" rot="0">
              <a:off x="116940" y="124149"/>
              <a:ext cx="6262195" cy="6234315"/>
            </a:xfrm>
            <a:custGeom>
              <a:avLst/>
              <a:gdLst/>
              <a:ahLst/>
              <a:cxnLst/>
              <a:rect r="r" b="b" t="t" l="l"/>
              <a:pathLst>
                <a:path h="6234315" w="6262195">
                  <a:moveTo>
                    <a:pt x="3131098" y="32"/>
                  </a:moveTo>
                  <a:cubicBezTo>
                    <a:pt x="2014135" y="-4964"/>
                    <a:pt x="979875" y="588062"/>
                    <a:pt x="419947" y="1554557"/>
                  </a:cubicBezTo>
                  <a:cubicBezTo>
                    <a:pt x="-139982" y="2521051"/>
                    <a:pt x="-139982" y="3713264"/>
                    <a:pt x="419947" y="4679759"/>
                  </a:cubicBezTo>
                  <a:cubicBezTo>
                    <a:pt x="979875" y="5646253"/>
                    <a:pt x="2014135" y="6239279"/>
                    <a:pt x="3131098" y="6234284"/>
                  </a:cubicBezTo>
                  <a:cubicBezTo>
                    <a:pt x="4248061" y="6239279"/>
                    <a:pt x="5282321" y="5646253"/>
                    <a:pt x="5842249" y="4679759"/>
                  </a:cubicBezTo>
                  <a:cubicBezTo>
                    <a:pt x="6402178" y="3713265"/>
                    <a:pt x="6402178" y="2521051"/>
                    <a:pt x="5842249" y="1554557"/>
                  </a:cubicBezTo>
                  <a:cubicBezTo>
                    <a:pt x="5282321" y="588063"/>
                    <a:pt x="4248061" y="-4963"/>
                    <a:pt x="3131098" y="32"/>
                  </a:cubicBezTo>
                  <a:close/>
                </a:path>
              </a:pathLst>
            </a:custGeom>
            <a:blipFill>
              <a:blip r:embed="rId3"/>
              <a:stretch>
                <a:fillRect l="223" t="-12885" r="223" b="-5393"/>
              </a:stretch>
            </a:blipFill>
          </p:spPr>
        </p:sp>
        <p:sp>
          <p:nvSpPr>
            <p:cNvPr name="Freeform 5" id="5"/>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F2F2F2"/>
            </a:solidFill>
          </p:spPr>
        </p:sp>
      </p:grpSp>
      <p:grpSp>
        <p:nvGrpSpPr>
          <p:cNvPr name="Group 6" id="6"/>
          <p:cNvGrpSpPr/>
          <p:nvPr/>
        </p:nvGrpSpPr>
        <p:grpSpPr>
          <a:xfrm rot="0">
            <a:off x="0" y="0"/>
            <a:ext cx="18130430" cy="2680919"/>
            <a:chOff x="0" y="0"/>
            <a:chExt cx="4775093" cy="706086"/>
          </a:xfrm>
        </p:grpSpPr>
        <p:sp>
          <p:nvSpPr>
            <p:cNvPr name="Freeform 7" id="7"/>
            <p:cNvSpPr/>
            <p:nvPr/>
          </p:nvSpPr>
          <p:spPr>
            <a:xfrm flipH="false" flipV="false" rot="0">
              <a:off x="0" y="0"/>
              <a:ext cx="4775093" cy="706086"/>
            </a:xfrm>
            <a:custGeom>
              <a:avLst/>
              <a:gdLst/>
              <a:ahLst/>
              <a:cxnLst/>
              <a:rect r="r" b="b" t="t" l="l"/>
              <a:pathLst>
                <a:path h="706086" w="4775093">
                  <a:moveTo>
                    <a:pt x="0" y="0"/>
                  </a:moveTo>
                  <a:lnTo>
                    <a:pt x="4775093" y="0"/>
                  </a:lnTo>
                  <a:lnTo>
                    <a:pt x="4775093" y="706086"/>
                  </a:lnTo>
                  <a:lnTo>
                    <a:pt x="0" y="706086"/>
                  </a:lnTo>
                  <a:close/>
                </a:path>
              </a:pathLst>
            </a:custGeom>
            <a:solidFill>
              <a:srgbClr val="1C5739"/>
            </a:solidFill>
          </p:spPr>
        </p:sp>
        <p:sp>
          <p:nvSpPr>
            <p:cNvPr name="TextBox 8" id="8"/>
            <p:cNvSpPr txBox="true"/>
            <p:nvPr/>
          </p:nvSpPr>
          <p:spPr>
            <a:xfrm>
              <a:off x="0" y="-19050"/>
              <a:ext cx="4775093" cy="725136"/>
            </a:xfrm>
            <a:prstGeom prst="rect">
              <a:avLst/>
            </a:prstGeom>
          </p:spPr>
          <p:txBody>
            <a:bodyPr anchor="ctr" rtlCol="false" tIns="50800" lIns="50800" bIns="50800" rIns="50800"/>
            <a:lstStyle/>
            <a:p>
              <a:pPr algn="ctr">
                <a:lnSpc>
                  <a:spcPts val="2859"/>
                </a:lnSpc>
              </a:pPr>
            </a:p>
          </p:txBody>
        </p:sp>
      </p:grpSp>
      <p:sp>
        <p:nvSpPr>
          <p:cNvPr name="Freeform 9" id="9"/>
          <p:cNvSpPr/>
          <p:nvPr/>
        </p:nvSpPr>
        <p:spPr>
          <a:xfrm flipH="false" flipV="false" rot="0">
            <a:off x="-1586068" y="-1808676"/>
            <a:ext cx="3172137" cy="4114800"/>
          </a:xfrm>
          <a:custGeom>
            <a:avLst/>
            <a:gdLst/>
            <a:ahLst/>
            <a:cxnLst/>
            <a:rect r="r" b="b" t="t" l="l"/>
            <a:pathLst>
              <a:path h="4114800" w="3172137">
                <a:moveTo>
                  <a:pt x="0" y="0"/>
                </a:moveTo>
                <a:lnTo>
                  <a:pt x="3172136" y="0"/>
                </a:lnTo>
                <a:lnTo>
                  <a:pt x="317213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874585" y="9258300"/>
            <a:ext cx="3806571" cy="2083232"/>
          </a:xfrm>
          <a:custGeom>
            <a:avLst/>
            <a:gdLst/>
            <a:ahLst/>
            <a:cxnLst/>
            <a:rect r="r" b="b" t="t" l="l"/>
            <a:pathLst>
              <a:path h="2083232" w="3806571">
                <a:moveTo>
                  <a:pt x="0" y="0"/>
                </a:moveTo>
                <a:lnTo>
                  <a:pt x="3806570" y="0"/>
                </a:lnTo>
                <a:lnTo>
                  <a:pt x="3806570" y="2083232"/>
                </a:lnTo>
                <a:lnTo>
                  <a:pt x="0" y="20832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831170" y="4884676"/>
            <a:ext cx="5461085" cy="556641"/>
          </a:xfrm>
          <a:prstGeom prst="rect">
            <a:avLst/>
          </a:prstGeom>
        </p:spPr>
        <p:txBody>
          <a:bodyPr anchor="t" rtlCol="false" tIns="0" lIns="0" bIns="0" rIns="0">
            <a:spAutoFit/>
          </a:bodyPr>
          <a:lstStyle/>
          <a:p>
            <a:pPr algn="ctr">
              <a:lnSpc>
                <a:spcPts val="4384"/>
              </a:lnSpc>
            </a:pPr>
            <a:r>
              <a:rPr lang="en-US" b="true" sz="3653" spc="182">
                <a:solidFill>
                  <a:srgbClr val="000000"/>
                </a:solidFill>
                <a:latin typeface="Open Sauce Bold"/>
                <a:ea typeface="Open Sauce Bold"/>
                <a:cs typeface="Open Sauce Bold"/>
                <a:sym typeface="Open Sauce Bold"/>
              </a:rPr>
              <a:t>Udaya Sri A L S</a:t>
            </a:r>
          </a:p>
        </p:txBody>
      </p:sp>
      <p:sp>
        <p:nvSpPr>
          <p:cNvPr name="TextBox 12" id="12"/>
          <p:cNvSpPr txBox="true"/>
          <p:nvPr/>
        </p:nvSpPr>
        <p:spPr>
          <a:xfrm rot="0">
            <a:off x="2814148" y="5811414"/>
            <a:ext cx="3495129" cy="457200"/>
          </a:xfrm>
          <a:prstGeom prst="rect">
            <a:avLst/>
          </a:prstGeom>
        </p:spPr>
        <p:txBody>
          <a:bodyPr anchor="t" rtlCol="false" tIns="0" lIns="0" bIns="0" rIns="0">
            <a:spAutoFit/>
          </a:bodyPr>
          <a:lstStyle/>
          <a:p>
            <a:pPr algn="ctr">
              <a:lnSpc>
                <a:spcPts val="3544"/>
              </a:lnSpc>
            </a:pPr>
            <a:r>
              <a:rPr lang="en-US" sz="2953" spc="147">
                <a:solidFill>
                  <a:srgbClr val="000000"/>
                </a:solidFill>
                <a:latin typeface="Open Sauce"/>
                <a:ea typeface="Open Sauce"/>
                <a:cs typeface="Open Sauce"/>
                <a:sym typeface="Open Sauce"/>
              </a:rPr>
              <a:t>IT22283412</a:t>
            </a:r>
          </a:p>
        </p:txBody>
      </p:sp>
      <p:sp>
        <p:nvSpPr>
          <p:cNvPr name="TextBox 13" id="13"/>
          <p:cNvSpPr txBox="true"/>
          <p:nvPr/>
        </p:nvSpPr>
        <p:spPr>
          <a:xfrm rot="0">
            <a:off x="3959600" y="613741"/>
            <a:ext cx="11979083" cy="1577153"/>
          </a:xfrm>
          <a:prstGeom prst="rect">
            <a:avLst/>
          </a:prstGeom>
        </p:spPr>
        <p:txBody>
          <a:bodyPr anchor="t" rtlCol="false" tIns="0" lIns="0" bIns="0" rIns="0">
            <a:spAutoFit/>
          </a:bodyPr>
          <a:lstStyle/>
          <a:p>
            <a:pPr algn="ctr" marL="0" indent="0" lvl="0">
              <a:lnSpc>
                <a:spcPts val="5862"/>
              </a:lnSpc>
              <a:spcBef>
                <a:spcPct val="0"/>
              </a:spcBef>
            </a:pPr>
            <a:r>
              <a:rPr lang="en-US" sz="5921" spc="207">
                <a:solidFill>
                  <a:srgbClr val="FFFFFF"/>
                </a:solidFill>
                <a:latin typeface="Poppins"/>
                <a:ea typeface="Poppins"/>
                <a:cs typeface="Poppins"/>
                <a:sym typeface="Poppins"/>
              </a:rPr>
              <a:t>Compartment Crowd Density Detection</a:t>
            </a:r>
          </a:p>
        </p:txBody>
      </p:sp>
      <p:sp>
        <p:nvSpPr>
          <p:cNvPr name="Freeform 14" id="14"/>
          <p:cNvSpPr/>
          <p:nvPr/>
        </p:nvSpPr>
        <p:spPr>
          <a:xfrm flipH="false" flipV="false" rot="0">
            <a:off x="6797034" y="9258300"/>
            <a:ext cx="527363" cy="660258"/>
          </a:xfrm>
          <a:custGeom>
            <a:avLst/>
            <a:gdLst/>
            <a:ahLst/>
            <a:cxnLst/>
            <a:rect r="r" b="b" t="t" l="l"/>
            <a:pathLst>
              <a:path h="660258" w="527363">
                <a:moveTo>
                  <a:pt x="0" y="0"/>
                </a:moveTo>
                <a:lnTo>
                  <a:pt x="527363" y="0"/>
                </a:lnTo>
                <a:lnTo>
                  <a:pt x="527363" y="660258"/>
                </a:lnTo>
                <a:lnTo>
                  <a:pt x="0" y="660258"/>
                </a:lnTo>
                <a:lnTo>
                  <a:pt x="0" y="0"/>
                </a:lnTo>
                <a:close/>
              </a:path>
            </a:pathLst>
          </a:custGeom>
          <a:blipFill>
            <a:blip r:embed="rId8"/>
            <a:stretch>
              <a:fillRect l="0" t="0" r="0" b="0"/>
            </a:stretch>
          </a:blipFill>
        </p:spPr>
      </p:sp>
      <p:sp>
        <p:nvSpPr>
          <p:cNvPr name="TextBox 15" id="15"/>
          <p:cNvSpPr txBox="true"/>
          <p:nvPr/>
        </p:nvSpPr>
        <p:spPr>
          <a:xfrm rot="0">
            <a:off x="7481967" y="9229725"/>
            <a:ext cx="2860987" cy="611285"/>
          </a:xfrm>
          <a:prstGeom prst="rect">
            <a:avLst/>
          </a:prstGeom>
        </p:spPr>
        <p:txBody>
          <a:bodyPr anchor="t" rtlCol="false" tIns="0" lIns="0" bIns="0" rIns="0">
            <a:spAutoFit/>
          </a:bodyPr>
          <a:lstStyle/>
          <a:p>
            <a:pPr algn="ctr">
              <a:lnSpc>
                <a:spcPts val="2496"/>
              </a:lnSpc>
            </a:pPr>
            <a:r>
              <a:rPr lang="en-US" sz="1783" spc="89">
                <a:solidFill>
                  <a:srgbClr val="38368D"/>
                </a:solidFill>
                <a:latin typeface="Open Sauce"/>
                <a:ea typeface="Open Sauce"/>
                <a:cs typeface="Open Sauce"/>
                <a:sym typeface="Open Sauce"/>
              </a:rPr>
              <a:t>SLIIT</a:t>
            </a:r>
          </a:p>
          <a:p>
            <a:pPr algn="ctr">
              <a:lnSpc>
                <a:spcPts val="2496"/>
              </a:lnSpc>
            </a:pPr>
            <a:r>
              <a:rPr lang="en-US" sz="1783" spc="89">
                <a:solidFill>
                  <a:srgbClr val="38368D"/>
                </a:solidFill>
                <a:latin typeface="Open Sauce"/>
                <a:ea typeface="Open Sauce"/>
                <a:cs typeface="Open Sauce"/>
                <a:sym typeface="Open Sauce"/>
              </a:rPr>
              <a:t>Faculty of Computing</a:t>
            </a:r>
          </a:p>
        </p:txBody>
      </p:sp>
      <p:sp>
        <p:nvSpPr>
          <p:cNvPr name="TextBox 16" id="16"/>
          <p:cNvSpPr txBox="true"/>
          <p:nvPr/>
        </p:nvSpPr>
        <p:spPr>
          <a:xfrm rot="0">
            <a:off x="12637126" y="9578407"/>
            <a:ext cx="4230199" cy="340151"/>
          </a:xfrm>
          <a:prstGeom prst="rect">
            <a:avLst/>
          </a:prstGeom>
        </p:spPr>
        <p:txBody>
          <a:bodyPr anchor="t" rtlCol="false" tIns="0" lIns="0" bIns="0" rIns="0">
            <a:spAutoFit/>
          </a:bodyPr>
          <a:lstStyle/>
          <a:p>
            <a:pPr algn="ctr">
              <a:lnSpc>
                <a:spcPts val="2776"/>
              </a:lnSpc>
            </a:pPr>
            <a:r>
              <a:rPr lang="en-US" sz="1983" spc="99">
                <a:solidFill>
                  <a:srgbClr val="010179"/>
                </a:solidFill>
                <a:latin typeface="Open Sauce"/>
                <a:ea typeface="Open Sauce"/>
                <a:cs typeface="Open Sauce"/>
                <a:sym typeface="Open Sauce"/>
              </a:rPr>
              <a:t>Specialization  :  Data Science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TextBox 3" id="3"/>
          <p:cNvSpPr txBox="true"/>
          <p:nvPr/>
        </p:nvSpPr>
        <p:spPr>
          <a:xfrm rot="0">
            <a:off x="1045706" y="1100832"/>
            <a:ext cx="16213594" cy="832186"/>
          </a:xfrm>
          <a:prstGeom prst="rect">
            <a:avLst/>
          </a:prstGeom>
        </p:spPr>
        <p:txBody>
          <a:bodyPr anchor="t" rtlCol="false" tIns="0" lIns="0" bIns="0" rIns="0">
            <a:spAutoFit/>
          </a:bodyPr>
          <a:lstStyle/>
          <a:p>
            <a:pPr algn="l" marL="0" indent="0" lvl="0">
              <a:lnSpc>
                <a:spcPts val="5862"/>
              </a:lnSpc>
              <a:spcBef>
                <a:spcPct val="0"/>
              </a:spcBef>
            </a:pPr>
            <a:r>
              <a:rPr lang="en-US" sz="5921" spc="207">
                <a:solidFill>
                  <a:srgbClr val="040506"/>
                </a:solidFill>
                <a:latin typeface="Poppins"/>
                <a:ea typeface="Poppins"/>
                <a:cs typeface="Poppins"/>
                <a:sym typeface="Poppins"/>
              </a:rPr>
              <a:t>Compartment Crowd Density estimation</a:t>
            </a:r>
          </a:p>
        </p:txBody>
      </p:sp>
      <p:sp>
        <p:nvSpPr>
          <p:cNvPr name="Freeform 4" id="4"/>
          <p:cNvSpPr/>
          <p:nvPr/>
        </p:nvSpPr>
        <p:spPr>
          <a:xfrm flipH="false" flipV="false" rot="-10800000">
            <a:off x="-305814" y="-323115"/>
            <a:ext cx="8744064" cy="2511931"/>
          </a:xfrm>
          <a:custGeom>
            <a:avLst/>
            <a:gdLst/>
            <a:ahLst/>
            <a:cxnLst/>
            <a:rect r="r" b="b" t="t" l="l"/>
            <a:pathLst>
              <a:path h="2511931" w="8744064">
                <a:moveTo>
                  <a:pt x="0" y="0"/>
                </a:moveTo>
                <a:lnTo>
                  <a:pt x="8744064" y="0"/>
                </a:lnTo>
                <a:lnTo>
                  <a:pt x="8744064" y="2511931"/>
                </a:lnTo>
                <a:lnTo>
                  <a:pt x="0" y="25119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1351176" y="3692197"/>
            <a:ext cx="6478228" cy="6056607"/>
          </a:xfrm>
          <a:custGeom>
            <a:avLst/>
            <a:gdLst/>
            <a:ahLst/>
            <a:cxnLst/>
            <a:rect r="r" b="b" t="t" l="l"/>
            <a:pathLst>
              <a:path h="6056607" w="6478228">
                <a:moveTo>
                  <a:pt x="0" y="0"/>
                </a:moveTo>
                <a:lnTo>
                  <a:pt x="6478228" y="0"/>
                </a:lnTo>
                <a:lnTo>
                  <a:pt x="6478228" y="6056607"/>
                </a:lnTo>
                <a:lnTo>
                  <a:pt x="0" y="6056607"/>
                </a:lnTo>
                <a:lnTo>
                  <a:pt x="0" y="0"/>
                </a:lnTo>
                <a:close/>
              </a:path>
            </a:pathLst>
          </a:custGeom>
          <a:blipFill>
            <a:blip r:embed="rId5"/>
            <a:stretch>
              <a:fillRect l="-10192" t="-5104" r="-10192" b="0"/>
            </a:stretch>
          </a:blipFill>
        </p:spPr>
      </p:sp>
      <p:sp>
        <p:nvSpPr>
          <p:cNvPr name="TextBox 6" id="6"/>
          <p:cNvSpPr txBox="true"/>
          <p:nvPr/>
        </p:nvSpPr>
        <p:spPr>
          <a:xfrm rot="0">
            <a:off x="466026" y="2378256"/>
            <a:ext cx="15490692" cy="1021080"/>
          </a:xfrm>
          <a:prstGeom prst="rect">
            <a:avLst/>
          </a:prstGeom>
        </p:spPr>
        <p:txBody>
          <a:bodyPr anchor="t" rtlCol="false" tIns="0" lIns="0" bIns="0" rIns="0">
            <a:spAutoFit/>
          </a:bodyPr>
          <a:lstStyle/>
          <a:p>
            <a:pPr algn="l">
              <a:lnSpc>
                <a:spcPts val="2760"/>
              </a:lnSpc>
            </a:pPr>
            <a:r>
              <a:rPr lang="en-US" sz="2000" spc="196" b="true">
                <a:solidFill>
                  <a:srgbClr val="231F20"/>
                </a:solidFill>
                <a:latin typeface="Open Sauce Bold"/>
                <a:ea typeface="Open Sauce Bold"/>
                <a:cs typeface="Open Sauce Bold"/>
                <a:sym typeface="Open Sauce Bold"/>
              </a:rPr>
              <a:t>Sub Problem:</a:t>
            </a:r>
          </a:p>
          <a:p>
            <a:pPr algn="l">
              <a:lnSpc>
                <a:spcPts val="2760"/>
              </a:lnSpc>
            </a:pPr>
          </a:p>
          <a:p>
            <a:pPr algn="l" marL="431801" indent="-215900" lvl="1">
              <a:lnSpc>
                <a:spcPts val="2760"/>
              </a:lnSpc>
              <a:buFont typeface="Arial"/>
              <a:buChar char="•"/>
            </a:pPr>
            <a:r>
              <a:rPr lang="en-US" sz="2000" spc="196">
                <a:solidFill>
                  <a:srgbClr val="231F20"/>
                </a:solidFill>
                <a:latin typeface="Open Sauce"/>
                <a:ea typeface="Open Sauce"/>
                <a:cs typeface="Open Sauce"/>
                <a:sym typeface="Open Sauce"/>
              </a:rPr>
              <a:t> Passengers and operators cannot easily identify overcrowded train compartments before boarding.</a:t>
            </a:r>
          </a:p>
        </p:txBody>
      </p:sp>
      <p:sp>
        <p:nvSpPr>
          <p:cNvPr name="TextBox 7" id="7"/>
          <p:cNvSpPr txBox="true"/>
          <p:nvPr/>
        </p:nvSpPr>
        <p:spPr>
          <a:xfrm rot="0">
            <a:off x="466026" y="3654097"/>
            <a:ext cx="10407901" cy="1706880"/>
          </a:xfrm>
          <a:prstGeom prst="rect">
            <a:avLst/>
          </a:prstGeom>
        </p:spPr>
        <p:txBody>
          <a:bodyPr anchor="t" rtlCol="false" tIns="0" lIns="0" bIns="0" rIns="0">
            <a:spAutoFit/>
          </a:bodyPr>
          <a:lstStyle/>
          <a:p>
            <a:pPr algn="l">
              <a:lnSpc>
                <a:spcPts val="2759"/>
              </a:lnSpc>
            </a:pPr>
            <a:r>
              <a:rPr lang="en-US" sz="1999" spc="195" b="true">
                <a:solidFill>
                  <a:srgbClr val="231F20"/>
                </a:solidFill>
                <a:latin typeface="Open Sauce Bold"/>
                <a:ea typeface="Open Sauce Bold"/>
                <a:cs typeface="Open Sauce Bold"/>
                <a:sym typeface="Open Sauce Bold"/>
              </a:rPr>
              <a:t>Solution:</a:t>
            </a:r>
          </a:p>
          <a:p>
            <a:pPr algn="l">
              <a:lnSpc>
                <a:spcPts val="2759"/>
              </a:lnSpc>
            </a:pPr>
          </a:p>
          <a:p>
            <a:pPr algn="l" marL="431799" indent="-215899" lvl="1">
              <a:lnSpc>
                <a:spcPts val="2759"/>
              </a:lnSpc>
              <a:buFont typeface="Arial"/>
              <a:buChar char="•"/>
            </a:pPr>
            <a:r>
              <a:rPr lang="en-US" sz="1999" spc="195">
                <a:solidFill>
                  <a:srgbClr val="231F20"/>
                </a:solidFill>
                <a:latin typeface="Open Sauce"/>
                <a:ea typeface="Open Sauce"/>
                <a:cs typeface="Open Sauce"/>
                <a:sym typeface="Open Sauce"/>
              </a:rPr>
              <a:t>The prototype classifies each train compartment image into three crowd levels.</a:t>
            </a:r>
          </a:p>
          <a:p>
            <a:pPr algn="l" marL="0" indent="0" lvl="0">
              <a:lnSpc>
                <a:spcPts val="2759"/>
              </a:lnSpc>
              <a:spcBef>
                <a:spcPct val="0"/>
              </a:spcBef>
            </a:pPr>
          </a:p>
        </p:txBody>
      </p:sp>
      <p:sp>
        <p:nvSpPr>
          <p:cNvPr name="TextBox 8" id="8"/>
          <p:cNvSpPr txBox="true"/>
          <p:nvPr/>
        </p:nvSpPr>
        <p:spPr>
          <a:xfrm rot="0">
            <a:off x="466026" y="5322877"/>
            <a:ext cx="9885577" cy="4450080"/>
          </a:xfrm>
          <a:prstGeom prst="rect">
            <a:avLst/>
          </a:prstGeom>
        </p:spPr>
        <p:txBody>
          <a:bodyPr anchor="t" rtlCol="false" tIns="0" lIns="0" bIns="0" rIns="0">
            <a:spAutoFit/>
          </a:bodyPr>
          <a:lstStyle/>
          <a:p>
            <a:pPr algn="l">
              <a:lnSpc>
                <a:spcPts val="2760"/>
              </a:lnSpc>
            </a:pPr>
            <a:r>
              <a:rPr lang="en-US" sz="2000" spc="196" b="true">
                <a:solidFill>
                  <a:srgbClr val="231F20"/>
                </a:solidFill>
                <a:latin typeface="Open Sauce Bold"/>
                <a:ea typeface="Open Sauce Bold"/>
                <a:cs typeface="Open Sauce Bold"/>
                <a:sym typeface="Open Sauce Bold"/>
              </a:rPr>
              <a:t>User Requirements Addressed:</a:t>
            </a:r>
          </a:p>
          <a:p>
            <a:pPr algn="l">
              <a:lnSpc>
                <a:spcPts val="2760"/>
              </a:lnSpc>
            </a:pPr>
          </a:p>
          <a:p>
            <a:pPr algn="l">
              <a:lnSpc>
                <a:spcPts val="2760"/>
              </a:lnSpc>
            </a:pPr>
            <a:r>
              <a:rPr lang="en-US" sz="2000" i="true" spc="196">
                <a:solidFill>
                  <a:srgbClr val="231F20"/>
                </a:solidFill>
                <a:latin typeface="Open Sauce Italics"/>
                <a:ea typeface="Open Sauce Italics"/>
                <a:cs typeface="Open Sauce Italics"/>
                <a:sym typeface="Open Sauce Italics"/>
              </a:rPr>
              <a:t>For users:</a:t>
            </a:r>
          </a:p>
          <a:p>
            <a:pPr algn="l">
              <a:lnSpc>
                <a:spcPts val="2760"/>
              </a:lnSpc>
            </a:pPr>
          </a:p>
          <a:p>
            <a:pPr algn="l" marL="431801" indent="-215900" lvl="1">
              <a:lnSpc>
                <a:spcPts val="2760"/>
              </a:lnSpc>
              <a:buFont typeface="Arial"/>
              <a:buChar char="•"/>
            </a:pPr>
            <a:r>
              <a:rPr lang="en-US" sz="2000" spc="196">
                <a:solidFill>
                  <a:srgbClr val="231F20"/>
                </a:solidFill>
                <a:latin typeface="Open Sauce"/>
                <a:ea typeface="Open Sauce"/>
                <a:cs typeface="Open Sauce"/>
                <a:sym typeface="Open Sauce"/>
              </a:rPr>
              <a:t>Users need to quickly identify whether a compartment is overcrowded.</a:t>
            </a:r>
          </a:p>
          <a:p>
            <a:pPr algn="l">
              <a:lnSpc>
                <a:spcPts val="2760"/>
              </a:lnSpc>
            </a:pPr>
          </a:p>
          <a:p>
            <a:pPr algn="l">
              <a:lnSpc>
                <a:spcPts val="2760"/>
              </a:lnSpc>
            </a:pPr>
            <a:r>
              <a:rPr lang="en-US" sz="2000" i="true" spc="196">
                <a:solidFill>
                  <a:srgbClr val="231F20"/>
                </a:solidFill>
                <a:latin typeface="Open Sauce Italics"/>
                <a:ea typeface="Open Sauce Italics"/>
                <a:cs typeface="Open Sauce Italics"/>
                <a:sym typeface="Open Sauce Italics"/>
              </a:rPr>
              <a:t>For station operators:</a:t>
            </a:r>
          </a:p>
          <a:p>
            <a:pPr algn="l">
              <a:lnSpc>
                <a:spcPts val="2760"/>
              </a:lnSpc>
            </a:pPr>
          </a:p>
          <a:p>
            <a:pPr algn="l" marL="431801" indent="-215900" lvl="1">
              <a:lnSpc>
                <a:spcPts val="2760"/>
              </a:lnSpc>
              <a:buFont typeface="Arial"/>
              <a:buChar char="•"/>
            </a:pPr>
            <a:r>
              <a:rPr lang="en-US" sz="2000" spc="196">
                <a:solidFill>
                  <a:srgbClr val="231F20"/>
                </a:solidFill>
                <a:latin typeface="Open Sauce"/>
                <a:ea typeface="Open Sauce"/>
                <a:cs typeface="Open Sauce"/>
                <a:sym typeface="Open Sauce"/>
              </a:rPr>
              <a:t>Operators need a fast method to monitor crowd conditions.</a:t>
            </a:r>
          </a:p>
          <a:p>
            <a:pPr algn="l" marL="431801" indent="-215900" lvl="1">
              <a:lnSpc>
                <a:spcPts val="2760"/>
              </a:lnSpc>
              <a:buFont typeface="Arial"/>
              <a:buChar char="•"/>
            </a:pPr>
            <a:r>
              <a:rPr lang="en-US" sz="2000" spc="196">
                <a:solidFill>
                  <a:srgbClr val="231F20"/>
                </a:solidFill>
                <a:latin typeface="Open Sauce"/>
                <a:ea typeface="Open Sauce"/>
                <a:cs typeface="Open Sauce"/>
                <a:sym typeface="Open Sauce"/>
              </a:rPr>
              <a:t>The output must be simple and understandable (3-level classification).</a:t>
            </a:r>
          </a:p>
          <a:p>
            <a:pPr algn="l" marL="0" indent="0" lvl="0">
              <a:lnSpc>
                <a:spcPts val="276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sp>
        <p:nvSpPr>
          <p:cNvPr name="Freeform 2" id="2"/>
          <p:cNvSpPr/>
          <p:nvPr/>
        </p:nvSpPr>
        <p:spPr>
          <a:xfrm flipH="false" flipV="false" rot="0">
            <a:off x="16384715" y="9009597"/>
            <a:ext cx="3806571" cy="2083232"/>
          </a:xfrm>
          <a:custGeom>
            <a:avLst/>
            <a:gdLst/>
            <a:ahLst/>
            <a:cxnLst/>
            <a:rect r="r" b="b" t="t" l="l"/>
            <a:pathLst>
              <a:path h="2083232" w="3806571">
                <a:moveTo>
                  <a:pt x="0" y="0"/>
                </a:moveTo>
                <a:lnTo>
                  <a:pt x="3806570" y="0"/>
                </a:lnTo>
                <a:lnTo>
                  <a:pt x="3806570" y="2083232"/>
                </a:lnTo>
                <a:lnTo>
                  <a:pt x="0" y="2083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882076" y="-20574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85859" y="792599"/>
            <a:ext cx="7141050" cy="7241464"/>
          </a:xfrm>
          <a:custGeom>
            <a:avLst/>
            <a:gdLst/>
            <a:ahLst/>
            <a:cxnLst/>
            <a:rect r="r" b="b" t="t" l="l"/>
            <a:pathLst>
              <a:path h="7241464" w="7141050">
                <a:moveTo>
                  <a:pt x="0" y="0"/>
                </a:moveTo>
                <a:lnTo>
                  <a:pt x="7141050" y="0"/>
                </a:lnTo>
                <a:lnTo>
                  <a:pt x="7141050" y="7241464"/>
                </a:lnTo>
                <a:lnTo>
                  <a:pt x="0" y="7241464"/>
                </a:lnTo>
                <a:lnTo>
                  <a:pt x="0" y="0"/>
                </a:lnTo>
                <a:close/>
              </a:path>
            </a:pathLst>
          </a:custGeom>
          <a:blipFill>
            <a:blip r:embed="rId6"/>
            <a:stretch>
              <a:fillRect l="-13948" t="0" r="-20552" b="0"/>
            </a:stretch>
          </a:blipFill>
        </p:spPr>
      </p:sp>
      <p:sp>
        <p:nvSpPr>
          <p:cNvPr name="TextBox 5" id="5"/>
          <p:cNvSpPr txBox="true"/>
          <p:nvPr/>
        </p:nvSpPr>
        <p:spPr>
          <a:xfrm rot="0">
            <a:off x="8205659" y="445781"/>
            <a:ext cx="7676417" cy="1614162"/>
          </a:xfrm>
          <a:prstGeom prst="rect">
            <a:avLst/>
          </a:prstGeom>
        </p:spPr>
        <p:txBody>
          <a:bodyPr anchor="t" rtlCol="false" tIns="0" lIns="0" bIns="0" rIns="0">
            <a:spAutoFit/>
          </a:bodyPr>
          <a:lstStyle/>
          <a:p>
            <a:pPr algn="l">
              <a:lnSpc>
                <a:spcPts val="2607"/>
              </a:lnSpc>
            </a:pPr>
            <a:r>
              <a:rPr lang="en-US" sz="1889" spc="185" b="true">
                <a:solidFill>
                  <a:srgbClr val="231F20"/>
                </a:solidFill>
                <a:latin typeface="Open Sauce Bold"/>
                <a:ea typeface="Open Sauce Bold"/>
                <a:cs typeface="Open Sauce Bold"/>
                <a:sym typeface="Open Sauce Bold"/>
              </a:rPr>
              <a:t>Identified Limitation:</a:t>
            </a:r>
          </a:p>
          <a:p>
            <a:pPr algn="l">
              <a:lnSpc>
                <a:spcPts val="2607"/>
              </a:lnSpc>
            </a:pPr>
          </a:p>
          <a:p>
            <a:pPr algn="l" marL="407883" indent="-203941" lvl="1">
              <a:lnSpc>
                <a:spcPts val="2607"/>
              </a:lnSpc>
              <a:buFont typeface="Arial"/>
              <a:buChar char="•"/>
            </a:pPr>
            <a:r>
              <a:rPr lang="en-US" sz="1889" spc="185">
                <a:solidFill>
                  <a:srgbClr val="231F20"/>
                </a:solidFill>
                <a:latin typeface="Open Sauce"/>
                <a:ea typeface="Open Sauce"/>
                <a:cs typeface="Open Sauce"/>
                <a:sym typeface="Open Sauce"/>
              </a:rPr>
              <a:t>Visual density alon</a:t>
            </a:r>
            <a:r>
              <a:rPr lang="en-US" sz="1889" spc="185">
                <a:solidFill>
                  <a:srgbClr val="231F20"/>
                </a:solidFill>
                <a:latin typeface="Open Sauce"/>
                <a:ea typeface="Open Sauce"/>
                <a:cs typeface="Open Sauce"/>
                <a:sym typeface="Open Sauce"/>
              </a:rPr>
              <a:t>e does not always reflect actual usability of space.</a:t>
            </a:r>
          </a:p>
          <a:p>
            <a:pPr algn="l" marL="0" indent="0" lvl="0">
              <a:lnSpc>
                <a:spcPts val="2607"/>
              </a:lnSpc>
              <a:spcBef>
                <a:spcPct val="0"/>
              </a:spcBef>
            </a:pPr>
          </a:p>
        </p:txBody>
      </p:sp>
      <p:sp>
        <p:nvSpPr>
          <p:cNvPr name="TextBox 6" id="6"/>
          <p:cNvSpPr txBox="true"/>
          <p:nvPr/>
        </p:nvSpPr>
        <p:spPr>
          <a:xfrm rot="0">
            <a:off x="8205659" y="2450469"/>
            <a:ext cx="7676417" cy="2261862"/>
          </a:xfrm>
          <a:prstGeom prst="rect">
            <a:avLst/>
          </a:prstGeom>
        </p:spPr>
        <p:txBody>
          <a:bodyPr anchor="t" rtlCol="false" tIns="0" lIns="0" bIns="0" rIns="0">
            <a:spAutoFit/>
          </a:bodyPr>
          <a:lstStyle/>
          <a:p>
            <a:pPr algn="l">
              <a:lnSpc>
                <a:spcPts val="2607"/>
              </a:lnSpc>
            </a:pPr>
            <a:r>
              <a:rPr lang="en-US" sz="1889" spc="185" b="true">
                <a:solidFill>
                  <a:srgbClr val="231F20"/>
                </a:solidFill>
                <a:latin typeface="Open Sauce Bold"/>
                <a:ea typeface="Open Sauce Bold"/>
                <a:cs typeface="Open Sauce Bold"/>
                <a:sym typeface="Open Sauce Bold"/>
              </a:rPr>
              <a:t>Enhanced Solution:</a:t>
            </a:r>
          </a:p>
          <a:p>
            <a:pPr algn="l">
              <a:lnSpc>
                <a:spcPts val="2607"/>
              </a:lnSpc>
            </a:pPr>
          </a:p>
          <a:p>
            <a:pPr algn="l" marL="407883" indent="-203941" lvl="1">
              <a:lnSpc>
                <a:spcPts val="2607"/>
              </a:lnSpc>
              <a:buFont typeface="Arial"/>
              <a:buChar char="•"/>
            </a:pPr>
            <a:r>
              <a:rPr lang="en-US" sz="1889" spc="185">
                <a:solidFill>
                  <a:srgbClr val="231F20"/>
                </a:solidFill>
                <a:latin typeface="Open Sauce"/>
                <a:ea typeface="Open Sauce"/>
                <a:cs typeface="Open Sauce"/>
                <a:sym typeface="Open Sauce"/>
              </a:rPr>
              <a:t>Segment floor,</a:t>
            </a:r>
            <a:r>
              <a:rPr lang="en-US" sz="1889" spc="185">
                <a:solidFill>
                  <a:srgbClr val="231F20"/>
                </a:solidFill>
                <a:latin typeface="Open Sauce"/>
                <a:ea typeface="Open Sauce"/>
                <a:cs typeface="Open Sauce"/>
                <a:sym typeface="Open Sauce"/>
              </a:rPr>
              <a:t> passengers, and seats at pixel level.</a:t>
            </a:r>
          </a:p>
          <a:p>
            <a:pPr algn="l" marL="407883" indent="-203941" lvl="1">
              <a:lnSpc>
                <a:spcPts val="2607"/>
              </a:lnSpc>
              <a:buFont typeface="Arial"/>
              <a:buChar char="•"/>
            </a:pPr>
            <a:r>
              <a:rPr lang="en-US" sz="1889" spc="185">
                <a:solidFill>
                  <a:srgbClr val="231F20"/>
                </a:solidFill>
                <a:latin typeface="Open Sauce"/>
                <a:ea typeface="Open Sauce"/>
                <a:cs typeface="Open Sauce"/>
                <a:sym typeface="Open Sauce"/>
              </a:rPr>
              <a:t>Estimate usable free space.</a:t>
            </a:r>
          </a:p>
          <a:p>
            <a:pPr algn="l" marL="407883" indent="-203941" lvl="1">
              <a:lnSpc>
                <a:spcPts val="2607"/>
              </a:lnSpc>
              <a:buFont typeface="Arial"/>
              <a:buChar char="•"/>
            </a:pPr>
            <a:r>
              <a:rPr lang="en-US" sz="1889" spc="185">
                <a:solidFill>
                  <a:srgbClr val="231F20"/>
                </a:solidFill>
                <a:latin typeface="Open Sauce"/>
                <a:ea typeface="Open Sauce"/>
                <a:cs typeface="Open Sauce"/>
                <a:sym typeface="Open Sauce"/>
              </a:rPr>
              <a:t>Re-classify crowd level based on actual free space availability</a:t>
            </a:r>
          </a:p>
          <a:p>
            <a:pPr algn="l" marL="0" indent="0" lvl="0">
              <a:lnSpc>
                <a:spcPts val="2607"/>
              </a:lnSpc>
              <a:spcBef>
                <a:spcPct val="0"/>
              </a:spcBef>
            </a:pPr>
          </a:p>
        </p:txBody>
      </p:sp>
      <p:sp>
        <p:nvSpPr>
          <p:cNvPr name="TextBox 7" id="7"/>
          <p:cNvSpPr txBox="true"/>
          <p:nvPr/>
        </p:nvSpPr>
        <p:spPr>
          <a:xfrm rot="0">
            <a:off x="8205659" y="5105400"/>
            <a:ext cx="7676417" cy="3881112"/>
          </a:xfrm>
          <a:prstGeom prst="rect">
            <a:avLst/>
          </a:prstGeom>
        </p:spPr>
        <p:txBody>
          <a:bodyPr anchor="t" rtlCol="false" tIns="0" lIns="0" bIns="0" rIns="0">
            <a:spAutoFit/>
          </a:bodyPr>
          <a:lstStyle/>
          <a:p>
            <a:pPr algn="l">
              <a:lnSpc>
                <a:spcPts val="2607"/>
              </a:lnSpc>
            </a:pPr>
            <a:r>
              <a:rPr lang="en-US" sz="1889" spc="185" b="true">
                <a:solidFill>
                  <a:srgbClr val="231F20"/>
                </a:solidFill>
                <a:latin typeface="Open Sauce Bold"/>
                <a:ea typeface="Open Sauce Bold"/>
                <a:cs typeface="Open Sauce Bold"/>
                <a:sym typeface="Open Sauce Bold"/>
              </a:rPr>
              <a:t>Design Excellence / Contribution:</a:t>
            </a:r>
          </a:p>
          <a:p>
            <a:pPr algn="l">
              <a:lnSpc>
                <a:spcPts val="2607"/>
              </a:lnSpc>
            </a:pPr>
          </a:p>
          <a:p>
            <a:pPr algn="l" marL="407883" indent="-203941" lvl="1">
              <a:lnSpc>
                <a:spcPts val="2607"/>
              </a:lnSpc>
              <a:buFont typeface="Arial"/>
              <a:buChar char="•"/>
            </a:pPr>
            <a:r>
              <a:rPr lang="en-US" sz="1889" spc="185">
                <a:solidFill>
                  <a:srgbClr val="231F20"/>
                </a:solidFill>
                <a:latin typeface="Open Sauce"/>
                <a:ea typeface="Open Sauce"/>
                <a:cs typeface="Open Sauce"/>
                <a:sym typeface="Open Sauce"/>
              </a:rPr>
              <a:t>Generate data by using simulator.</a:t>
            </a:r>
          </a:p>
          <a:p>
            <a:pPr algn="l" marL="407883" indent="-203941" lvl="1">
              <a:lnSpc>
                <a:spcPts val="2607"/>
              </a:lnSpc>
              <a:buFont typeface="Arial"/>
              <a:buChar char="•"/>
            </a:pPr>
            <a:r>
              <a:rPr lang="en-US" sz="1889" spc="185">
                <a:solidFill>
                  <a:srgbClr val="231F20"/>
                </a:solidFill>
                <a:latin typeface="Open Sauce"/>
                <a:ea typeface="Open Sauce"/>
                <a:cs typeface="Open Sauce"/>
                <a:sym typeface="Open Sauce"/>
              </a:rPr>
              <a:t>Works on single CCTV images without additional sensors.</a:t>
            </a:r>
          </a:p>
          <a:p>
            <a:pPr algn="l" marL="407883" indent="-203941" lvl="1">
              <a:lnSpc>
                <a:spcPts val="2607"/>
              </a:lnSpc>
              <a:buFont typeface="Arial"/>
              <a:buChar char="•"/>
            </a:pPr>
            <a:r>
              <a:rPr lang="en-US" sz="1889" spc="185">
                <a:solidFill>
                  <a:srgbClr val="231F20"/>
                </a:solidFill>
                <a:latin typeface="Open Sauce"/>
                <a:ea typeface="Open Sauce"/>
                <a:cs typeface="Open Sauce"/>
                <a:sym typeface="Open Sauce"/>
              </a:rPr>
              <a:t>Use different approaches to annotate images.</a:t>
            </a:r>
          </a:p>
          <a:p>
            <a:pPr algn="l" marL="407883" indent="-203941" lvl="1">
              <a:lnSpc>
                <a:spcPts val="2607"/>
              </a:lnSpc>
              <a:buFont typeface="Arial"/>
              <a:buChar char="•"/>
            </a:pPr>
            <a:r>
              <a:rPr lang="en-US" sz="1889" spc="185">
                <a:solidFill>
                  <a:srgbClr val="231F20"/>
                </a:solidFill>
                <a:latin typeface="Open Sauce"/>
                <a:ea typeface="Open Sauce"/>
                <a:cs typeface="Open Sauce"/>
                <a:sym typeface="Open Sauce"/>
              </a:rPr>
              <a:t>Introduces free-space–aware crowd classification, not just people counting.</a:t>
            </a:r>
          </a:p>
          <a:p>
            <a:pPr algn="l" marL="407883" indent="-203941" lvl="1">
              <a:lnSpc>
                <a:spcPts val="2607"/>
              </a:lnSpc>
              <a:buFont typeface="Arial"/>
              <a:buChar char="•"/>
            </a:pPr>
            <a:r>
              <a:rPr lang="en-US" sz="1889" spc="185">
                <a:solidFill>
                  <a:srgbClr val="231F20"/>
                </a:solidFill>
                <a:latin typeface="Open Sauce"/>
                <a:ea typeface="Open Sauce"/>
                <a:cs typeface="Open Sauce"/>
                <a:sym typeface="Open Sauce"/>
              </a:rPr>
              <a:t>Uses semantic segmentation for pixel-level spatial understanding</a:t>
            </a:r>
          </a:p>
          <a:p>
            <a:pPr algn="l">
              <a:lnSpc>
                <a:spcPts val="2607"/>
              </a:lnSpc>
            </a:pPr>
          </a:p>
          <a:p>
            <a:pPr algn="l" marL="0" indent="0" lvl="0">
              <a:lnSpc>
                <a:spcPts val="2607"/>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a:grpSpLocks noChangeAspect="true"/>
          </p:cNvGrpSpPr>
          <p:nvPr/>
        </p:nvGrpSpPr>
        <p:grpSpPr>
          <a:xfrm rot="0">
            <a:off x="12245150" y="3323658"/>
            <a:ext cx="5014150" cy="4994563"/>
            <a:chOff x="0" y="0"/>
            <a:chExt cx="6502400" cy="6477000"/>
          </a:xfrm>
        </p:grpSpPr>
        <p:sp>
          <p:nvSpPr>
            <p:cNvPr name="Freeform 4" id="4"/>
            <p:cNvSpPr/>
            <p:nvPr/>
          </p:nvSpPr>
          <p:spPr>
            <a:xfrm flipH="false" flipV="false" rot="0">
              <a:off x="116940" y="124149"/>
              <a:ext cx="6262195" cy="6234315"/>
            </a:xfrm>
            <a:custGeom>
              <a:avLst/>
              <a:gdLst/>
              <a:ahLst/>
              <a:cxnLst/>
              <a:rect r="r" b="b" t="t" l="l"/>
              <a:pathLst>
                <a:path h="6234315" w="6262195">
                  <a:moveTo>
                    <a:pt x="3131098" y="32"/>
                  </a:moveTo>
                  <a:cubicBezTo>
                    <a:pt x="2014135" y="-4964"/>
                    <a:pt x="979875" y="588062"/>
                    <a:pt x="419947" y="1554557"/>
                  </a:cubicBezTo>
                  <a:cubicBezTo>
                    <a:pt x="-139982" y="2521051"/>
                    <a:pt x="-139982" y="3713264"/>
                    <a:pt x="419947" y="4679759"/>
                  </a:cubicBezTo>
                  <a:cubicBezTo>
                    <a:pt x="979875" y="5646253"/>
                    <a:pt x="2014135" y="6239279"/>
                    <a:pt x="3131098" y="6234284"/>
                  </a:cubicBezTo>
                  <a:cubicBezTo>
                    <a:pt x="4248061" y="6239279"/>
                    <a:pt x="5282321" y="5646253"/>
                    <a:pt x="5842249" y="4679759"/>
                  </a:cubicBezTo>
                  <a:cubicBezTo>
                    <a:pt x="6402178" y="3713265"/>
                    <a:pt x="6402178" y="2521051"/>
                    <a:pt x="5842249" y="1554557"/>
                  </a:cubicBezTo>
                  <a:cubicBezTo>
                    <a:pt x="5282321" y="588063"/>
                    <a:pt x="4248061" y="-4963"/>
                    <a:pt x="3131098" y="32"/>
                  </a:cubicBezTo>
                  <a:close/>
                </a:path>
              </a:pathLst>
            </a:custGeom>
            <a:blipFill>
              <a:blip r:embed="rId3"/>
              <a:stretch>
                <a:fillRect l="223" t="-4456" r="223" b="-13821"/>
              </a:stretch>
            </a:blipFill>
          </p:spPr>
        </p:sp>
        <p:sp>
          <p:nvSpPr>
            <p:cNvPr name="Freeform 5" id="5"/>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F2F2F2"/>
            </a:solidFill>
          </p:spPr>
        </p:sp>
      </p:grpSp>
      <p:grpSp>
        <p:nvGrpSpPr>
          <p:cNvPr name="Group 6" id="6"/>
          <p:cNvGrpSpPr/>
          <p:nvPr/>
        </p:nvGrpSpPr>
        <p:grpSpPr>
          <a:xfrm rot="0">
            <a:off x="0" y="0"/>
            <a:ext cx="18130430" cy="2680919"/>
            <a:chOff x="0" y="0"/>
            <a:chExt cx="4775093" cy="706086"/>
          </a:xfrm>
        </p:grpSpPr>
        <p:sp>
          <p:nvSpPr>
            <p:cNvPr name="Freeform 7" id="7"/>
            <p:cNvSpPr/>
            <p:nvPr/>
          </p:nvSpPr>
          <p:spPr>
            <a:xfrm flipH="false" flipV="false" rot="0">
              <a:off x="0" y="0"/>
              <a:ext cx="4775093" cy="706086"/>
            </a:xfrm>
            <a:custGeom>
              <a:avLst/>
              <a:gdLst/>
              <a:ahLst/>
              <a:cxnLst/>
              <a:rect r="r" b="b" t="t" l="l"/>
              <a:pathLst>
                <a:path h="706086" w="4775093">
                  <a:moveTo>
                    <a:pt x="0" y="0"/>
                  </a:moveTo>
                  <a:lnTo>
                    <a:pt x="4775093" y="0"/>
                  </a:lnTo>
                  <a:lnTo>
                    <a:pt x="4775093" y="706086"/>
                  </a:lnTo>
                  <a:lnTo>
                    <a:pt x="0" y="706086"/>
                  </a:lnTo>
                  <a:close/>
                </a:path>
              </a:pathLst>
            </a:custGeom>
            <a:solidFill>
              <a:srgbClr val="1C5739"/>
            </a:solidFill>
          </p:spPr>
        </p:sp>
        <p:sp>
          <p:nvSpPr>
            <p:cNvPr name="TextBox 8" id="8"/>
            <p:cNvSpPr txBox="true"/>
            <p:nvPr/>
          </p:nvSpPr>
          <p:spPr>
            <a:xfrm>
              <a:off x="0" y="-19050"/>
              <a:ext cx="4775093" cy="725136"/>
            </a:xfrm>
            <a:prstGeom prst="rect">
              <a:avLst/>
            </a:prstGeom>
          </p:spPr>
          <p:txBody>
            <a:bodyPr anchor="ctr" rtlCol="false" tIns="50800" lIns="50800" bIns="50800" rIns="50800"/>
            <a:lstStyle/>
            <a:p>
              <a:pPr algn="ctr">
                <a:lnSpc>
                  <a:spcPts val="2859"/>
                </a:lnSpc>
              </a:pPr>
            </a:p>
          </p:txBody>
        </p:sp>
      </p:grpSp>
      <p:sp>
        <p:nvSpPr>
          <p:cNvPr name="Freeform 9" id="9"/>
          <p:cNvSpPr/>
          <p:nvPr/>
        </p:nvSpPr>
        <p:spPr>
          <a:xfrm flipH="false" flipV="false" rot="0">
            <a:off x="-1586068" y="-1808676"/>
            <a:ext cx="3172137" cy="4114800"/>
          </a:xfrm>
          <a:custGeom>
            <a:avLst/>
            <a:gdLst/>
            <a:ahLst/>
            <a:cxnLst/>
            <a:rect r="r" b="b" t="t" l="l"/>
            <a:pathLst>
              <a:path h="4114800" w="3172137">
                <a:moveTo>
                  <a:pt x="0" y="0"/>
                </a:moveTo>
                <a:lnTo>
                  <a:pt x="3172136" y="0"/>
                </a:lnTo>
                <a:lnTo>
                  <a:pt x="317213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874585" y="9258300"/>
            <a:ext cx="3806571" cy="2083232"/>
          </a:xfrm>
          <a:custGeom>
            <a:avLst/>
            <a:gdLst/>
            <a:ahLst/>
            <a:cxnLst/>
            <a:rect r="r" b="b" t="t" l="l"/>
            <a:pathLst>
              <a:path h="2083232" w="3806571">
                <a:moveTo>
                  <a:pt x="0" y="0"/>
                </a:moveTo>
                <a:lnTo>
                  <a:pt x="3806570" y="0"/>
                </a:lnTo>
                <a:lnTo>
                  <a:pt x="3806570" y="2083232"/>
                </a:lnTo>
                <a:lnTo>
                  <a:pt x="0" y="20832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831170" y="4884676"/>
            <a:ext cx="5461085" cy="556641"/>
          </a:xfrm>
          <a:prstGeom prst="rect">
            <a:avLst/>
          </a:prstGeom>
        </p:spPr>
        <p:txBody>
          <a:bodyPr anchor="t" rtlCol="false" tIns="0" lIns="0" bIns="0" rIns="0">
            <a:spAutoFit/>
          </a:bodyPr>
          <a:lstStyle/>
          <a:p>
            <a:pPr algn="ctr">
              <a:lnSpc>
                <a:spcPts val="4384"/>
              </a:lnSpc>
            </a:pPr>
            <a:r>
              <a:rPr lang="en-US" b="true" sz="3653" spc="182">
                <a:solidFill>
                  <a:srgbClr val="000000"/>
                </a:solidFill>
                <a:latin typeface="Open Sauce Bold"/>
                <a:ea typeface="Open Sauce Bold"/>
                <a:cs typeface="Open Sauce Bold"/>
                <a:sym typeface="Open Sauce Bold"/>
              </a:rPr>
              <a:t>Bandara I K</a:t>
            </a:r>
          </a:p>
        </p:txBody>
      </p:sp>
      <p:sp>
        <p:nvSpPr>
          <p:cNvPr name="TextBox 12" id="12"/>
          <p:cNvSpPr txBox="true"/>
          <p:nvPr/>
        </p:nvSpPr>
        <p:spPr>
          <a:xfrm rot="0">
            <a:off x="2814148" y="5811414"/>
            <a:ext cx="3495129" cy="457200"/>
          </a:xfrm>
          <a:prstGeom prst="rect">
            <a:avLst/>
          </a:prstGeom>
        </p:spPr>
        <p:txBody>
          <a:bodyPr anchor="t" rtlCol="false" tIns="0" lIns="0" bIns="0" rIns="0">
            <a:spAutoFit/>
          </a:bodyPr>
          <a:lstStyle/>
          <a:p>
            <a:pPr algn="ctr">
              <a:lnSpc>
                <a:spcPts val="3544"/>
              </a:lnSpc>
            </a:pPr>
            <a:r>
              <a:rPr lang="en-US" sz="2953" spc="147">
                <a:solidFill>
                  <a:srgbClr val="000000"/>
                </a:solidFill>
                <a:latin typeface="Open Sauce"/>
                <a:ea typeface="Open Sauce"/>
                <a:cs typeface="Open Sauce"/>
                <a:sym typeface="Open Sauce"/>
              </a:rPr>
              <a:t>IT22250988</a:t>
            </a:r>
          </a:p>
        </p:txBody>
      </p:sp>
      <p:sp>
        <p:nvSpPr>
          <p:cNvPr name="TextBox 13" id="13"/>
          <p:cNvSpPr txBox="true"/>
          <p:nvPr/>
        </p:nvSpPr>
        <p:spPr>
          <a:xfrm rot="0">
            <a:off x="3959600" y="613741"/>
            <a:ext cx="11979083" cy="1577153"/>
          </a:xfrm>
          <a:prstGeom prst="rect">
            <a:avLst/>
          </a:prstGeom>
        </p:spPr>
        <p:txBody>
          <a:bodyPr anchor="t" rtlCol="false" tIns="0" lIns="0" bIns="0" rIns="0">
            <a:spAutoFit/>
          </a:bodyPr>
          <a:lstStyle/>
          <a:p>
            <a:pPr algn="ctr" marL="0" indent="0" lvl="0">
              <a:lnSpc>
                <a:spcPts val="5862"/>
              </a:lnSpc>
              <a:spcBef>
                <a:spcPct val="0"/>
              </a:spcBef>
            </a:pPr>
            <a:r>
              <a:rPr lang="en-US" sz="5921" spc="207">
                <a:solidFill>
                  <a:srgbClr val="FFFFFF"/>
                </a:solidFill>
                <a:latin typeface="Poppins"/>
                <a:ea typeface="Poppins"/>
                <a:cs typeface="Poppins"/>
                <a:sym typeface="Poppins"/>
              </a:rPr>
              <a:t>Platform Compartment Alignment</a:t>
            </a:r>
          </a:p>
        </p:txBody>
      </p:sp>
      <p:sp>
        <p:nvSpPr>
          <p:cNvPr name="Freeform 14" id="14"/>
          <p:cNvSpPr/>
          <p:nvPr/>
        </p:nvSpPr>
        <p:spPr>
          <a:xfrm flipH="false" flipV="false" rot="0">
            <a:off x="6797034" y="9258300"/>
            <a:ext cx="527363" cy="660258"/>
          </a:xfrm>
          <a:custGeom>
            <a:avLst/>
            <a:gdLst/>
            <a:ahLst/>
            <a:cxnLst/>
            <a:rect r="r" b="b" t="t" l="l"/>
            <a:pathLst>
              <a:path h="660258" w="527363">
                <a:moveTo>
                  <a:pt x="0" y="0"/>
                </a:moveTo>
                <a:lnTo>
                  <a:pt x="527363" y="0"/>
                </a:lnTo>
                <a:lnTo>
                  <a:pt x="527363" y="660258"/>
                </a:lnTo>
                <a:lnTo>
                  <a:pt x="0" y="660258"/>
                </a:lnTo>
                <a:lnTo>
                  <a:pt x="0" y="0"/>
                </a:lnTo>
                <a:close/>
              </a:path>
            </a:pathLst>
          </a:custGeom>
          <a:blipFill>
            <a:blip r:embed="rId8"/>
            <a:stretch>
              <a:fillRect l="0" t="0" r="0" b="0"/>
            </a:stretch>
          </a:blipFill>
        </p:spPr>
      </p:sp>
      <p:sp>
        <p:nvSpPr>
          <p:cNvPr name="TextBox 15" id="15"/>
          <p:cNvSpPr txBox="true"/>
          <p:nvPr/>
        </p:nvSpPr>
        <p:spPr>
          <a:xfrm rot="0">
            <a:off x="7481967" y="9229725"/>
            <a:ext cx="2860987" cy="611285"/>
          </a:xfrm>
          <a:prstGeom prst="rect">
            <a:avLst/>
          </a:prstGeom>
        </p:spPr>
        <p:txBody>
          <a:bodyPr anchor="t" rtlCol="false" tIns="0" lIns="0" bIns="0" rIns="0">
            <a:spAutoFit/>
          </a:bodyPr>
          <a:lstStyle/>
          <a:p>
            <a:pPr algn="ctr">
              <a:lnSpc>
                <a:spcPts val="2496"/>
              </a:lnSpc>
            </a:pPr>
            <a:r>
              <a:rPr lang="en-US" sz="1783" spc="89">
                <a:solidFill>
                  <a:srgbClr val="38368D"/>
                </a:solidFill>
                <a:latin typeface="Open Sauce"/>
                <a:ea typeface="Open Sauce"/>
                <a:cs typeface="Open Sauce"/>
                <a:sym typeface="Open Sauce"/>
              </a:rPr>
              <a:t>SLIIT</a:t>
            </a:r>
          </a:p>
          <a:p>
            <a:pPr algn="ctr">
              <a:lnSpc>
                <a:spcPts val="2496"/>
              </a:lnSpc>
            </a:pPr>
            <a:r>
              <a:rPr lang="en-US" sz="1783" spc="89">
                <a:solidFill>
                  <a:srgbClr val="38368D"/>
                </a:solidFill>
                <a:latin typeface="Open Sauce"/>
                <a:ea typeface="Open Sauce"/>
                <a:cs typeface="Open Sauce"/>
                <a:sym typeface="Open Sauce"/>
              </a:rPr>
              <a:t>Faculty of Computing</a:t>
            </a:r>
          </a:p>
        </p:txBody>
      </p:sp>
      <p:sp>
        <p:nvSpPr>
          <p:cNvPr name="TextBox 16" id="16"/>
          <p:cNvSpPr txBox="true"/>
          <p:nvPr/>
        </p:nvSpPr>
        <p:spPr>
          <a:xfrm rot="0">
            <a:off x="12637126" y="9578407"/>
            <a:ext cx="4230199" cy="340151"/>
          </a:xfrm>
          <a:prstGeom prst="rect">
            <a:avLst/>
          </a:prstGeom>
        </p:spPr>
        <p:txBody>
          <a:bodyPr anchor="t" rtlCol="false" tIns="0" lIns="0" bIns="0" rIns="0">
            <a:spAutoFit/>
          </a:bodyPr>
          <a:lstStyle/>
          <a:p>
            <a:pPr algn="ctr">
              <a:lnSpc>
                <a:spcPts val="2776"/>
              </a:lnSpc>
            </a:pPr>
            <a:r>
              <a:rPr lang="en-US" sz="1983" spc="99">
                <a:solidFill>
                  <a:srgbClr val="010179"/>
                </a:solidFill>
                <a:latin typeface="Open Sauce"/>
                <a:ea typeface="Open Sauce"/>
                <a:cs typeface="Open Sauce"/>
                <a:sym typeface="Open Sauce"/>
              </a:rPr>
              <a:t>Specialization  :  Data Science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TextBox 3" id="3"/>
          <p:cNvSpPr txBox="true"/>
          <p:nvPr/>
        </p:nvSpPr>
        <p:spPr>
          <a:xfrm rot="0">
            <a:off x="1183656" y="1106535"/>
            <a:ext cx="14127357" cy="832186"/>
          </a:xfrm>
          <a:prstGeom prst="rect">
            <a:avLst/>
          </a:prstGeom>
        </p:spPr>
        <p:txBody>
          <a:bodyPr anchor="t" rtlCol="false" tIns="0" lIns="0" bIns="0" rIns="0">
            <a:spAutoFit/>
          </a:bodyPr>
          <a:lstStyle/>
          <a:p>
            <a:pPr algn="l" marL="0" indent="0" lvl="0">
              <a:lnSpc>
                <a:spcPts val="5862"/>
              </a:lnSpc>
              <a:spcBef>
                <a:spcPct val="0"/>
              </a:spcBef>
            </a:pPr>
            <a:r>
              <a:rPr lang="en-US" sz="5921" spc="207">
                <a:solidFill>
                  <a:srgbClr val="040506"/>
                </a:solidFill>
                <a:latin typeface="Poppins"/>
                <a:ea typeface="Poppins"/>
                <a:cs typeface="Poppins"/>
                <a:sym typeface="Poppins"/>
              </a:rPr>
              <a:t>Platform Compartment Alignment</a:t>
            </a:r>
          </a:p>
        </p:txBody>
      </p:sp>
      <p:sp>
        <p:nvSpPr>
          <p:cNvPr name="Freeform 4" id="4"/>
          <p:cNvSpPr/>
          <p:nvPr/>
        </p:nvSpPr>
        <p:spPr>
          <a:xfrm flipH="false" flipV="false" rot="-10800000">
            <a:off x="-305814" y="-323115"/>
            <a:ext cx="8744064" cy="2511931"/>
          </a:xfrm>
          <a:custGeom>
            <a:avLst/>
            <a:gdLst/>
            <a:ahLst/>
            <a:cxnLst/>
            <a:rect r="r" b="b" t="t" l="l"/>
            <a:pathLst>
              <a:path h="2511931" w="8744064">
                <a:moveTo>
                  <a:pt x="0" y="0"/>
                </a:moveTo>
                <a:lnTo>
                  <a:pt x="8744064" y="0"/>
                </a:lnTo>
                <a:lnTo>
                  <a:pt x="8744064" y="2511931"/>
                </a:lnTo>
                <a:lnTo>
                  <a:pt x="0" y="25119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978564" y="4170325"/>
            <a:ext cx="7542344" cy="5358095"/>
          </a:xfrm>
          <a:custGeom>
            <a:avLst/>
            <a:gdLst/>
            <a:ahLst/>
            <a:cxnLst/>
            <a:rect r="r" b="b" t="t" l="l"/>
            <a:pathLst>
              <a:path h="5358095" w="7542344">
                <a:moveTo>
                  <a:pt x="0" y="0"/>
                </a:moveTo>
                <a:lnTo>
                  <a:pt x="7542344" y="0"/>
                </a:lnTo>
                <a:lnTo>
                  <a:pt x="7542344" y="5358095"/>
                </a:lnTo>
                <a:lnTo>
                  <a:pt x="0" y="5358095"/>
                </a:lnTo>
                <a:lnTo>
                  <a:pt x="0" y="0"/>
                </a:lnTo>
                <a:close/>
              </a:path>
            </a:pathLst>
          </a:custGeom>
          <a:blipFill>
            <a:blip r:embed="rId5"/>
            <a:stretch>
              <a:fillRect l="0" t="0" r="0" b="0"/>
            </a:stretch>
          </a:blipFill>
        </p:spPr>
      </p:sp>
      <p:sp>
        <p:nvSpPr>
          <p:cNvPr name="TextBox 6" id="6"/>
          <p:cNvSpPr txBox="true"/>
          <p:nvPr/>
        </p:nvSpPr>
        <p:spPr>
          <a:xfrm rot="0">
            <a:off x="1183656" y="3393475"/>
            <a:ext cx="11032765" cy="335280"/>
          </a:xfrm>
          <a:prstGeom prst="rect">
            <a:avLst/>
          </a:prstGeom>
        </p:spPr>
        <p:txBody>
          <a:bodyPr anchor="t" rtlCol="false" tIns="0" lIns="0" bIns="0" rIns="0">
            <a:spAutoFit/>
          </a:bodyPr>
          <a:lstStyle/>
          <a:p>
            <a:pPr algn="l" marL="431801" indent="-215900" lvl="1">
              <a:lnSpc>
                <a:spcPts val="2760"/>
              </a:lnSpc>
              <a:buFont typeface="Arial"/>
              <a:buChar char="•"/>
            </a:pPr>
            <a:r>
              <a:rPr lang="en-US" sz="2000" spc="104">
                <a:solidFill>
                  <a:srgbClr val="231F20"/>
                </a:solidFill>
                <a:latin typeface="Open Sauce"/>
                <a:ea typeface="Open Sauce"/>
                <a:cs typeface="Open Sauce"/>
                <a:sym typeface="Open Sauce"/>
              </a:rPr>
              <a:t>Inefficient train-platform alignment causes overcrowding and safety issues</a:t>
            </a:r>
          </a:p>
        </p:txBody>
      </p:sp>
      <p:sp>
        <p:nvSpPr>
          <p:cNvPr name="TextBox 7" id="7"/>
          <p:cNvSpPr txBox="true"/>
          <p:nvPr/>
        </p:nvSpPr>
        <p:spPr>
          <a:xfrm rot="0">
            <a:off x="1028700" y="5241362"/>
            <a:ext cx="8670304" cy="2707629"/>
          </a:xfrm>
          <a:prstGeom prst="rect">
            <a:avLst/>
          </a:prstGeom>
        </p:spPr>
        <p:txBody>
          <a:bodyPr anchor="t" rtlCol="false" tIns="0" lIns="0" bIns="0" rIns="0">
            <a:spAutoFit/>
          </a:bodyPr>
          <a:lstStyle/>
          <a:p>
            <a:pPr algn="l" marL="427125" indent="-213563" lvl="1">
              <a:lnSpc>
                <a:spcPts val="2710"/>
              </a:lnSpc>
              <a:buFont typeface="Arial"/>
              <a:buChar char="•"/>
            </a:pPr>
            <a:r>
              <a:rPr lang="en-US" sz="1978" spc="102">
                <a:solidFill>
                  <a:srgbClr val="231F20"/>
                </a:solidFill>
                <a:latin typeface="Open Sauce"/>
                <a:ea typeface="Open Sauce"/>
                <a:cs typeface="Open Sauce"/>
                <a:sym typeface="Open Sauce"/>
              </a:rPr>
              <a:t>Real-time crowd detection using YOLO on platform CCTV footage.</a:t>
            </a:r>
          </a:p>
          <a:p>
            <a:pPr algn="l">
              <a:lnSpc>
                <a:spcPts val="2710"/>
              </a:lnSpc>
            </a:pPr>
          </a:p>
          <a:p>
            <a:pPr algn="l" marL="427125" indent="-213563" lvl="1">
              <a:lnSpc>
                <a:spcPts val="2730"/>
              </a:lnSpc>
              <a:buFont typeface="Arial"/>
              <a:buChar char="•"/>
            </a:pPr>
            <a:r>
              <a:rPr lang="en-US" sz="1978" spc="102">
                <a:solidFill>
                  <a:srgbClr val="231F20"/>
                </a:solidFill>
                <a:latin typeface="Open Sauce"/>
                <a:ea typeface="Open Sauce"/>
                <a:cs typeface="Open Sauce"/>
                <a:sym typeface="Open Sauce"/>
              </a:rPr>
              <a:t>Dynamic alignment optimization matches crowded compartments to less crowded platform zones.</a:t>
            </a:r>
          </a:p>
          <a:p>
            <a:pPr algn="l">
              <a:lnSpc>
                <a:spcPts val="2730"/>
              </a:lnSpc>
            </a:pPr>
          </a:p>
          <a:p>
            <a:pPr algn="l" marL="427125" indent="-213563" lvl="1">
              <a:lnSpc>
                <a:spcPts val="2730"/>
              </a:lnSpc>
              <a:buFont typeface="Arial"/>
              <a:buChar char="•"/>
            </a:pPr>
            <a:r>
              <a:rPr lang="en-US" sz="1978" spc="102">
                <a:solidFill>
                  <a:srgbClr val="231F20"/>
                </a:solidFill>
                <a:latin typeface="Open Sauce"/>
                <a:ea typeface="Open Sauce"/>
                <a:cs typeface="Open Sauce"/>
                <a:sym typeface="Open Sauce"/>
              </a:rPr>
              <a:t>Multi-objective optimization balances crowd distribution, passenger flow, and safety</a:t>
            </a:r>
          </a:p>
        </p:txBody>
      </p:sp>
      <p:sp>
        <p:nvSpPr>
          <p:cNvPr name="TextBox 8" id="8"/>
          <p:cNvSpPr txBox="true"/>
          <p:nvPr/>
        </p:nvSpPr>
        <p:spPr>
          <a:xfrm rot="0">
            <a:off x="1183656" y="2623506"/>
            <a:ext cx="2231339" cy="335280"/>
          </a:xfrm>
          <a:prstGeom prst="rect">
            <a:avLst/>
          </a:prstGeom>
        </p:spPr>
        <p:txBody>
          <a:bodyPr anchor="t" rtlCol="false" tIns="0" lIns="0" bIns="0" rIns="0">
            <a:spAutoFit/>
          </a:bodyPr>
          <a:lstStyle/>
          <a:p>
            <a:pPr algn="l">
              <a:lnSpc>
                <a:spcPts val="2760"/>
              </a:lnSpc>
            </a:pPr>
            <a:r>
              <a:rPr lang="en-US" b="true" sz="2000" i="true" spc="104">
                <a:solidFill>
                  <a:srgbClr val="231F20"/>
                </a:solidFill>
                <a:latin typeface="Open Sauce Bold Italics"/>
                <a:ea typeface="Open Sauce Bold Italics"/>
                <a:cs typeface="Open Sauce Bold Italics"/>
                <a:sym typeface="Open Sauce Bold Italics"/>
              </a:rPr>
              <a:t>Sub Problem :</a:t>
            </a:r>
          </a:p>
        </p:txBody>
      </p:sp>
      <p:sp>
        <p:nvSpPr>
          <p:cNvPr name="TextBox 9" id="9"/>
          <p:cNvSpPr txBox="true"/>
          <p:nvPr/>
        </p:nvSpPr>
        <p:spPr>
          <a:xfrm rot="0">
            <a:off x="1028700" y="4467932"/>
            <a:ext cx="2231339" cy="335280"/>
          </a:xfrm>
          <a:prstGeom prst="rect">
            <a:avLst/>
          </a:prstGeom>
        </p:spPr>
        <p:txBody>
          <a:bodyPr anchor="t" rtlCol="false" tIns="0" lIns="0" bIns="0" rIns="0">
            <a:spAutoFit/>
          </a:bodyPr>
          <a:lstStyle/>
          <a:p>
            <a:pPr algn="l">
              <a:lnSpc>
                <a:spcPts val="2760"/>
              </a:lnSpc>
            </a:pPr>
            <a:r>
              <a:rPr lang="en-US" b="true" sz="2000" i="true" spc="104">
                <a:solidFill>
                  <a:srgbClr val="231F20"/>
                </a:solidFill>
                <a:latin typeface="Open Sauce Bold Italics"/>
                <a:ea typeface="Open Sauce Bold Italics"/>
                <a:cs typeface="Open Sauce Bold Italics"/>
                <a:sym typeface="Open Sauce Bold Italics"/>
              </a:rPr>
              <a:t>Solution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sp>
        <p:nvSpPr>
          <p:cNvPr name="Freeform 2" id="2"/>
          <p:cNvSpPr/>
          <p:nvPr/>
        </p:nvSpPr>
        <p:spPr>
          <a:xfrm flipH="false" flipV="false" rot="0">
            <a:off x="530250" y="1720224"/>
            <a:ext cx="5877677" cy="7538076"/>
          </a:xfrm>
          <a:custGeom>
            <a:avLst/>
            <a:gdLst/>
            <a:ahLst/>
            <a:cxnLst/>
            <a:rect r="r" b="b" t="t" l="l"/>
            <a:pathLst>
              <a:path h="7538076" w="5877677">
                <a:moveTo>
                  <a:pt x="0" y="0"/>
                </a:moveTo>
                <a:lnTo>
                  <a:pt x="5877678" y="0"/>
                </a:lnTo>
                <a:lnTo>
                  <a:pt x="5877678" y="7538076"/>
                </a:lnTo>
                <a:lnTo>
                  <a:pt x="0" y="7538076"/>
                </a:lnTo>
                <a:lnTo>
                  <a:pt x="0" y="0"/>
                </a:lnTo>
                <a:close/>
              </a:path>
            </a:pathLst>
          </a:custGeom>
          <a:blipFill>
            <a:blip r:embed="rId2"/>
            <a:stretch>
              <a:fillRect l="0" t="-8586" r="0" b="-8586"/>
            </a:stretch>
          </a:blipFill>
        </p:spPr>
      </p:sp>
      <p:sp>
        <p:nvSpPr>
          <p:cNvPr name="Freeform 3" id="3"/>
          <p:cNvSpPr/>
          <p:nvPr/>
        </p:nvSpPr>
        <p:spPr>
          <a:xfrm flipH="false" flipV="false" rot="0">
            <a:off x="16384715" y="9009597"/>
            <a:ext cx="3806571" cy="2083232"/>
          </a:xfrm>
          <a:custGeom>
            <a:avLst/>
            <a:gdLst/>
            <a:ahLst/>
            <a:cxnLst/>
            <a:rect r="r" b="b" t="t" l="l"/>
            <a:pathLst>
              <a:path h="2083232" w="3806571">
                <a:moveTo>
                  <a:pt x="0" y="0"/>
                </a:moveTo>
                <a:lnTo>
                  <a:pt x="3806570" y="0"/>
                </a:lnTo>
                <a:lnTo>
                  <a:pt x="3806570" y="2083232"/>
                </a:lnTo>
                <a:lnTo>
                  <a:pt x="0" y="20832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882076" y="-20574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530250" y="393176"/>
            <a:ext cx="15351826" cy="928512"/>
          </a:xfrm>
          <a:prstGeom prst="rect">
            <a:avLst/>
          </a:prstGeom>
        </p:spPr>
        <p:txBody>
          <a:bodyPr anchor="t" rtlCol="false" tIns="0" lIns="0" bIns="0" rIns="0">
            <a:spAutoFit/>
          </a:bodyPr>
          <a:lstStyle/>
          <a:p>
            <a:pPr algn="l">
              <a:lnSpc>
                <a:spcPts val="6405"/>
              </a:lnSpc>
            </a:pPr>
            <a:r>
              <a:rPr lang="en-US" sz="6470" spc="226">
                <a:solidFill>
                  <a:srgbClr val="040506"/>
                </a:solidFill>
                <a:latin typeface="Poppins"/>
                <a:ea typeface="Poppins"/>
                <a:cs typeface="Poppins"/>
                <a:sym typeface="Poppins"/>
              </a:rPr>
              <a:t>Platform Compartment Alignment</a:t>
            </a:r>
          </a:p>
        </p:txBody>
      </p:sp>
      <p:sp>
        <p:nvSpPr>
          <p:cNvPr name="TextBox 6" id="6"/>
          <p:cNvSpPr txBox="true"/>
          <p:nvPr/>
        </p:nvSpPr>
        <p:spPr>
          <a:xfrm rot="0">
            <a:off x="7120979" y="6652139"/>
            <a:ext cx="2231339" cy="335280"/>
          </a:xfrm>
          <a:prstGeom prst="rect">
            <a:avLst/>
          </a:prstGeom>
        </p:spPr>
        <p:txBody>
          <a:bodyPr anchor="t" rtlCol="false" tIns="0" lIns="0" bIns="0" rIns="0">
            <a:spAutoFit/>
          </a:bodyPr>
          <a:lstStyle/>
          <a:p>
            <a:pPr algn="l">
              <a:lnSpc>
                <a:spcPts val="2760"/>
              </a:lnSpc>
            </a:pPr>
            <a:r>
              <a:rPr lang="en-US" b="true" sz="2000" i="true" spc="104">
                <a:solidFill>
                  <a:srgbClr val="231F20"/>
                </a:solidFill>
                <a:latin typeface="Open Sauce Bold Italics"/>
                <a:ea typeface="Open Sauce Bold Italics"/>
                <a:cs typeface="Open Sauce Bold Italics"/>
                <a:sym typeface="Open Sauce Bold Italics"/>
              </a:rPr>
              <a:t>Contribution :</a:t>
            </a:r>
          </a:p>
        </p:txBody>
      </p:sp>
      <p:sp>
        <p:nvSpPr>
          <p:cNvPr name="TextBox 7" id="7"/>
          <p:cNvSpPr txBox="true"/>
          <p:nvPr/>
        </p:nvSpPr>
        <p:spPr>
          <a:xfrm rot="0">
            <a:off x="7120979" y="7177919"/>
            <a:ext cx="10138321" cy="549275"/>
          </a:xfrm>
          <a:prstGeom prst="rect">
            <a:avLst/>
          </a:prstGeom>
        </p:spPr>
        <p:txBody>
          <a:bodyPr anchor="t" rtlCol="false" tIns="0" lIns="0" bIns="0" rIns="0">
            <a:spAutoFit/>
          </a:bodyPr>
          <a:lstStyle/>
          <a:p>
            <a:pPr algn="l" marL="431801" indent="-215900" lvl="1">
              <a:lnSpc>
                <a:spcPts val="4900"/>
              </a:lnSpc>
              <a:buFont typeface="Arial"/>
              <a:buChar char="•"/>
            </a:pPr>
            <a:r>
              <a:rPr lang="en-US" sz="2000" spc="104">
                <a:solidFill>
                  <a:srgbClr val="231F20"/>
                </a:solidFill>
                <a:latin typeface="Open Sauce"/>
                <a:ea typeface="Open Sauce"/>
                <a:cs typeface="Open Sauce"/>
                <a:sym typeface="Open Sauce"/>
              </a:rPr>
              <a:t>Experienced different approaches to create the dataset. </a:t>
            </a:r>
          </a:p>
        </p:txBody>
      </p:sp>
      <p:sp>
        <p:nvSpPr>
          <p:cNvPr name="TextBox 8" id="8"/>
          <p:cNvSpPr txBox="true"/>
          <p:nvPr/>
        </p:nvSpPr>
        <p:spPr>
          <a:xfrm rot="0">
            <a:off x="7120979" y="7645459"/>
            <a:ext cx="10138321" cy="549275"/>
          </a:xfrm>
          <a:prstGeom prst="rect">
            <a:avLst/>
          </a:prstGeom>
        </p:spPr>
        <p:txBody>
          <a:bodyPr anchor="t" rtlCol="false" tIns="0" lIns="0" bIns="0" rIns="0">
            <a:spAutoFit/>
          </a:bodyPr>
          <a:lstStyle/>
          <a:p>
            <a:pPr algn="l" marL="431801" indent="-215900" lvl="1">
              <a:lnSpc>
                <a:spcPts val="4900"/>
              </a:lnSpc>
              <a:buFont typeface="Arial"/>
              <a:buChar char="•"/>
            </a:pPr>
            <a:r>
              <a:rPr lang="en-US" sz="2000" spc="104">
                <a:solidFill>
                  <a:srgbClr val="231F20"/>
                </a:solidFill>
                <a:latin typeface="Open Sauce"/>
                <a:ea typeface="Open Sauce"/>
                <a:cs typeface="Open Sauce"/>
                <a:sym typeface="Open Sauce"/>
              </a:rPr>
              <a:t>Used hybrid density calculation to detect crowd levels.</a:t>
            </a:r>
          </a:p>
        </p:txBody>
      </p:sp>
      <p:sp>
        <p:nvSpPr>
          <p:cNvPr name="TextBox 9" id="9"/>
          <p:cNvSpPr txBox="true"/>
          <p:nvPr/>
        </p:nvSpPr>
        <p:spPr>
          <a:xfrm rot="0">
            <a:off x="7120979" y="8109009"/>
            <a:ext cx="10138321" cy="549275"/>
          </a:xfrm>
          <a:prstGeom prst="rect">
            <a:avLst/>
          </a:prstGeom>
        </p:spPr>
        <p:txBody>
          <a:bodyPr anchor="t" rtlCol="false" tIns="0" lIns="0" bIns="0" rIns="0">
            <a:spAutoFit/>
          </a:bodyPr>
          <a:lstStyle/>
          <a:p>
            <a:pPr algn="l" marL="431801" indent="-215900" lvl="1">
              <a:lnSpc>
                <a:spcPts val="4900"/>
              </a:lnSpc>
              <a:buFont typeface="Arial"/>
              <a:buChar char="•"/>
            </a:pPr>
            <a:r>
              <a:rPr lang="en-US" sz="2000" spc="104">
                <a:solidFill>
                  <a:srgbClr val="231F20"/>
                </a:solidFill>
                <a:latin typeface="Open Sauce"/>
                <a:ea typeface="Open Sauce"/>
                <a:cs typeface="Open Sauce"/>
                <a:sym typeface="Open Sauce"/>
              </a:rPr>
              <a:t>Used multi objective cost function for optimization.</a:t>
            </a:r>
          </a:p>
        </p:txBody>
      </p:sp>
      <p:sp>
        <p:nvSpPr>
          <p:cNvPr name="TextBox 10" id="10"/>
          <p:cNvSpPr txBox="true"/>
          <p:nvPr/>
        </p:nvSpPr>
        <p:spPr>
          <a:xfrm rot="0">
            <a:off x="7120979" y="2282141"/>
            <a:ext cx="3266801" cy="335280"/>
          </a:xfrm>
          <a:prstGeom prst="rect">
            <a:avLst/>
          </a:prstGeom>
        </p:spPr>
        <p:txBody>
          <a:bodyPr anchor="t" rtlCol="false" tIns="0" lIns="0" bIns="0" rIns="0">
            <a:spAutoFit/>
          </a:bodyPr>
          <a:lstStyle/>
          <a:p>
            <a:pPr algn="l">
              <a:lnSpc>
                <a:spcPts val="2760"/>
              </a:lnSpc>
            </a:pPr>
            <a:r>
              <a:rPr lang="en-US" b="true" sz="2000" i="true" spc="104">
                <a:solidFill>
                  <a:srgbClr val="231F20"/>
                </a:solidFill>
                <a:latin typeface="Open Sauce Bold Italics"/>
                <a:ea typeface="Open Sauce Bold Italics"/>
                <a:cs typeface="Open Sauce Bold Italics"/>
                <a:sym typeface="Open Sauce Bold Italics"/>
              </a:rPr>
              <a:t>User Requirements :</a:t>
            </a:r>
          </a:p>
        </p:txBody>
      </p:sp>
      <p:sp>
        <p:nvSpPr>
          <p:cNvPr name="TextBox 11" id="11"/>
          <p:cNvSpPr txBox="true"/>
          <p:nvPr/>
        </p:nvSpPr>
        <p:spPr>
          <a:xfrm rot="0">
            <a:off x="7120979" y="2802134"/>
            <a:ext cx="3064211" cy="335280"/>
          </a:xfrm>
          <a:prstGeom prst="rect">
            <a:avLst/>
          </a:prstGeom>
        </p:spPr>
        <p:txBody>
          <a:bodyPr anchor="t" rtlCol="false" tIns="0" lIns="0" bIns="0" rIns="0">
            <a:spAutoFit/>
          </a:bodyPr>
          <a:lstStyle/>
          <a:p>
            <a:pPr algn="l" marL="431801" indent="-215900" lvl="1">
              <a:lnSpc>
                <a:spcPts val="2760"/>
              </a:lnSpc>
              <a:buFont typeface="Arial"/>
              <a:buChar char="•"/>
            </a:pPr>
            <a:r>
              <a:rPr lang="en-US" sz="2000" spc="104">
                <a:solidFill>
                  <a:srgbClr val="231F20"/>
                </a:solidFill>
                <a:latin typeface="Open Sauce"/>
                <a:ea typeface="Open Sauce"/>
                <a:cs typeface="Open Sauce"/>
                <a:sym typeface="Open Sauce"/>
              </a:rPr>
              <a:t>For Train Drivers</a:t>
            </a:r>
          </a:p>
        </p:txBody>
      </p:sp>
      <p:sp>
        <p:nvSpPr>
          <p:cNvPr name="TextBox 12" id="12"/>
          <p:cNvSpPr txBox="true"/>
          <p:nvPr/>
        </p:nvSpPr>
        <p:spPr>
          <a:xfrm rot="0">
            <a:off x="7571180" y="3337439"/>
            <a:ext cx="6418207" cy="335280"/>
          </a:xfrm>
          <a:prstGeom prst="rect">
            <a:avLst/>
          </a:prstGeom>
        </p:spPr>
        <p:txBody>
          <a:bodyPr anchor="t" rtlCol="false" tIns="0" lIns="0" bIns="0" rIns="0">
            <a:spAutoFit/>
          </a:bodyPr>
          <a:lstStyle/>
          <a:p>
            <a:pPr algn="l">
              <a:lnSpc>
                <a:spcPts val="2760"/>
              </a:lnSpc>
            </a:pPr>
            <a:r>
              <a:rPr lang="en-US" sz="2000" spc="104">
                <a:solidFill>
                  <a:srgbClr val="231F20"/>
                </a:solidFill>
                <a:latin typeface="Open Sauce"/>
                <a:ea typeface="Open Sauce"/>
                <a:cs typeface="Open Sauce"/>
                <a:sym typeface="Open Sauce"/>
              </a:rPr>
              <a:t>✓ Clear visual guidance on where to stop.</a:t>
            </a:r>
          </a:p>
        </p:txBody>
      </p:sp>
      <p:sp>
        <p:nvSpPr>
          <p:cNvPr name="TextBox 13" id="13"/>
          <p:cNvSpPr txBox="true"/>
          <p:nvPr/>
        </p:nvSpPr>
        <p:spPr>
          <a:xfrm rot="0">
            <a:off x="7571180" y="3634619"/>
            <a:ext cx="6418207" cy="335280"/>
          </a:xfrm>
          <a:prstGeom prst="rect">
            <a:avLst/>
          </a:prstGeom>
        </p:spPr>
        <p:txBody>
          <a:bodyPr anchor="t" rtlCol="false" tIns="0" lIns="0" bIns="0" rIns="0">
            <a:spAutoFit/>
          </a:bodyPr>
          <a:lstStyle/>
          <a:p>
            <a:pPr algn="l">
              <a:lnSpc>
                <a:spcPts val="2760"/>
              </a:lnSpc>
            </a:pPr>
            <a:r>
              <a:rPr lang="en-US" sz="2000" spc="104">
                <a:solidFill>
                  <a:srgbClr val="231F20"/>
                </a:solidFill>
                <a:latin typeface="Open Sauce"/>
                <a:ea typeface="Open Sauce"/>
                <a:cs typeface="Open Sauce"/>
                <a:sym typeface="Open Sauce"/>
              </a:rPr>
              <a:t>✓ Real-time braking recommendations.</a:t>
            </a:r>
          </a:p>
        </p:txBody>
      </p:sp>
      <p:sp>
        <p:nvSpPr>
          <p:cNvPr name="TextBox 14" id="14"/>
          <p:cNvSpPr txBox="true"/>
          <p:nvPr/>
        </p:nvSpPr>
        <p:spPr>
          <a:xfrm rot="0">
            <a:off x="7656905" y="4846199"/>
            <a:ext cx="9029371" cy="335280"/>
          </a:xfrm>
          <a:prstGeom prst="rect">
            <a:avLst/>
          </a:prstGeom>
        </p:spPr>
        <p:txBody>
          <a:bodyPr anchor="t" rtlCol="false" tIns="0" lIns="0" bIns="0" rIns="0">
            <a:spAutoFit/>
          </a:bodyPr>
          <a:lstStyle/>
          <a:p>
            <a:pPr algn="l">
              <a:lnSpc>
                <a:spcPts val="2760"/>
              </a:lnSpc>
            </a:pPr>
            <a:r>
              <a:rPr lang="en-US" sz="2000" spc="104">
                <a:solidFill>
                  <a:srgbClr val="231F20"/>
                </a:solidFill>
                <a:latin typeface="Open Sauce"/>
                <a:ea typeface="Open Sauce"/>
                <a:cs typeface="Open Sauce"/>
                <a:sym typeface="Open Sauce"/>
              </a:rPr>
              <a:t>✓ Platform crowd monitoring across 3 zones with density levels.</a:t>
            </a:r>
          </a:p>
        </p:txBody>
      </p:sp>
      <p:sp>
        <p:nvSpPr>
          <p:cNvPr name="TextBox 15" id="15"/>
          <p:cNvSpPr txBox="true"/>
          <p:nvPr/>
        </p:nvSpPr>
        <p:spPr>
          <a:xfrm rot="0">
            <a:off x="7120979" y="4310894"/>
            <a:ext cx="3942102" cy="335280"/>
          </a:xfrm>
          <a:prstGeom prst="rect">
            <a:avLst/>
          </a:prstGeom>
        </p:spPr>
        <p:txBody>
          <a:bodyPr anchor="t" rtlCol="false" tIns="0" lIns="0" bIns="0" rIns="0">
            <a:spAutoFit/>
          </a:bodyPr>
          <a:lstStyle/>
          <a:p>
            <a:pPr algn="l" marL="431801" indent="-215900" lvl="1">
              <a:lnSpc>
                <a:spcPts val="2760"/>
              </a:lnSpc>
              <a:buFont typeface="Arial"/>
              <a:buChar char="•"/>
            </a:pPr>
            <a:r>
              <a:rPr lang="en-US" sz="2000" spc="104">
                <a:solidFill>
                  <a:srgbClr val="231F20"/>
                </a:solidFill>
                <a:latin typeface="Open Sauce"/>
                <a:ea typeface="Open Sauce"/>
                <a:cs typeface="Open Sauce"/>
                <a:sym typeface="Open Sauce"/>
              </a:rPr>
              <a:t>For Station Operators</a:t>
            </a:r>
          </a:p>
        </p:txBody>
      </p:sp>
      <p:sp>
        <p:nvSpPr>
          <p:cNvPr name="TextBox 16" id="16"/>
          <p:cNvSpPr txBox="true"/>
          <p:nvPr/>
        </p:nvSpPr>
        <p:spPr>
          <a:xfrm rot="0">
            <a:off x="7656905" y="5143379"/>
            <a:ext cx="9029371" cy="335280"/>
          </a:xfrm>
          <a:prstGeom prst="rect">
            <a:avLst/>
          </a:prstGeom>
        </p:spPr>
        <p:txBody>
          <a:bodyPr anchor="t" rtlCol="false" tIns="0" lIns="0" bIns="0" rIns="0">
            <a:spAutoFit/>
          </a:bodyPr>
          <a:lstStyle/>
          <a:p>
            <a:pPr algn="l">
              <a:lnSpc>
                <a:spcPts val="2760"/>
              </a:lnSpc>
            </a:pPr>
            <a:r>
              <a:rPr lang="en-US" sz="2000" spc="104">
                <a:solidFill>
                  <a:srgbClr val="231F20"/>
                </a:solidFill>
                <a:latin typeface="Open Sauce"/>
                <a:ea typeface="Open Sauce"/>
                <a:cs typeface="Open Sauce"/>
                <a:sym typeface="Open Sauce"/>
              </a:rPr>
              <a:t>✓ Optimization metrics showing alignment quality.</a:t>
            </a:r>
          </a:p>
        </p:txBody>
      </p:sp>
      <p:sp>
        <p:nvSpPr>
          <p:cNvPr name="TextBox 17" id="17"/>
          <p:cNvSpPr txBox="true"/>
          <p:nvPr/>
        </p:nvSpPr>
        <p:spPr>
          <a:xfrm rot="0">
            <a:off x="7656905" y="5440559"/>
            <a:ext cx="9029371" cy="335280"/>
          </a:xfrm>
          <a:prstGeom prst="rect">
            <a:avLst/>
          </a:prstGeom>
        </p:spPr>
        <p:txBody>
          <a:bodyPr anchor="t" rtlCol="false" tIns="0" lIns="0" bIns="0" rIns="0">
            <a:spAutoFit/>
          </a:bodyPr>
          <a:lstStyle/>
          <a:p>
            <a:pPr algn="l">
              <a:lnSpc>
                <a:spcPts val="2760"/>
              </a:lnSpc>
            </a:pPr>
            <a:r>
              <a:rPr lang="en-US" sz="2000" spc="104">
                <a:solidFill>
                  <a:srgbClr val="231F20"/>
                </a:solidFill>
                <a:latin typeface="Open Sauce"/>
                <a:ea typeface="Open Sauce"/>
                <a:cs typeface="Open Sauce"/>
                <a:sym typeface="Open Sauce"/>
              </a:rPr>
              <a:t>✓ Ensure safety and smooth passenger flow.</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a:grpSpLocks noChangeAspect="true"/>
          </p:cNvGrpSpPr>
          <p:nvPr/>
        </p:nvGrpSpPr>
        <p:grpSpPr>
          <a:xfrm rot="0">
            <a:off x="12245150" y="3323658"/>
            <a:ext cx="5014150" cy="4994563"/>
            <a:chOff x="0" y="0"/>
            <a:chExt cx="6502400" cy="6477000"/>
          </a:xfrm>
        </p:grpSpPr>
        <p:sp>
          <p:nvSpPr>
            <p:cNvPr name="Freeform 4" id="4"/>
            <p:cNvSpPr/>
            <p:nvPr/>
          </p:nvSpPr>
          <p:spPr>
            <a:xfrm flipH="false" flipV="false" rot="0">
              <a:off x="116940" y="124149"/>
              <a:ext cx="6262195" cy="6234315"/>
            </a:xfrm>
            <a:custGeom>
              <a:avLst/>
              <a:gdLst/>
              <a:ahLst/>
              <a:cxnLst/>
              <a:rect r="r" b="b" t="t" l="l"/>
              <a:pathLst>
                <a:path h="6234315" w="6262195">
                  <a:moveTo>
                    <a:pt x="3131098" y="32"/>
                  </a:moveTo>
                  <a:cubicBezTo>
                    <a:pt x="2014135" y="-4964"/>
                    <a:pt x="979875" y="588062"/>
                    <a:pt x="419947" y="1554557"/>
                  </a:cubicBezTo>
                  <a:cubicBezTo>
                    <a:pt x="-139982" y="2521051"/>
                    <a:pt x="-139982" y="3713264"/>
                    <a:pt x="419947" y="4679759"/>
                  </a:cubicBezTo>
                  <a:cubicBezTo>
                    <a:pt x="979875" y="5646253"/>
                    <a:pt x="2014135" y="6239279"/>
                    <a:pt x="3131098" y="6234284"/>
                  </a:cubicBezTo>
                  <a:cubicBezTo>
                    <a:pt x="4248061" y="6239279"/>
                    <a:pt x="5282321" y="5646253"/>
                    <a:pt x="5842249" y="4679759"/>
                  </a:cubicBezTo>
                  <a:cubicBezTo>
                    <a:pt x="6402178" y="3713265"/>
                    <a:pt x="6402178" y="2521051"/>
                    <a:pt x="5842249" y="1554557"/>
                  </a:cubicBezTo>
                  <a:cubicBezTo>
                    <a:pt x="5282321" y="588063"/>
                    <a:pt x="4248061" y="-4963"/>
                    <a:pt x="3131098" y="32"/>
                  </a:cubicBezTo>
                  <a:close/>
                </a:path>
              </a:pathLst>
            </a:custGeom>
            <a:blipFill>
              <a:blip r:embed="rId3"/>
              <a:stretch>
                <a:fillRect l="223" t="-9139" r="223" b="-9139"/>
              </a:stretch>
            </a:blipFill>
          </p:spPr>
        </p:sp>
        <p:sp>
          <p:nvSpPr>
            <p:cNvPr name="Freeform 5" id="5"/>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F2F2F2"/>
            </a:solidFill>
          </p:spPr>
        </p:sp>
      </p:grpSp>
      <p:grpSp>
        <p:nvGrpSpPr>
          <p:cNvPr name="Group 6" id="6"/>
          <p:cNvGrpSpPr/>
          <p:nvPr/>
        </p:nvGrpSpPr>
        <p:grpSpPr>
          <a:xfrm rot="0">
            <a:off x="0" y="0"/>
            <a:ext cx="18130430" cy="2680919"/>
            <a:chOff x="0" y="0"/>
            <a:chExt cx="4775093" cy="706086"/>
          </a:xfrm>
        </p:grpSpPr>
        <p:sp>
          <p:nvSpPr>
            <p:cNvPr name="Freeform 7" id="7"/>
            <p:cNvSpPr/>
            <p:nvPr/>
          </p:nvSpPr>
          <p:spPr>
            <a:xfrm flipH="false" flipV="false" rot="0">
              <a:off x="0" y="0"/>
              <a:ext cx="4775093" cy="706086"/>
            </a:xfrm>
            <a:custGeom>
              <a:avLst/>
              <a:gdLst/>
              <a:ahLst/>
              <a:cxnLst/>
              <a:rect r="r" b="b" t="t" l="l"/>
              <a:pathLst>
                <a:path h="706086" w="4775093">
                  <a:moveTo>
                    <a:pt x="0" y="0"/>
                  </a:moveTo>
                  <a:lnTo>
                    <a:pt x="4775093" y="0"/>
                  </a:lnTo>
                  <a:lnTo>
                    <a:pt x="4775093" y="706086"/>
                  </a:lnTo>
                  <a:lnTo>
                    <a:pt x="0" y="706086"/>
                  </a:lnTo>
                  <a:close/>
                </a:path>
              </a:pathLst>
            </a:custGeom>
            <a:solidFill>
              <a:srgbClr val="1C5739"/>
            </a:solidFill>
          </p:spPr>
        </p:sp>
        <p:sp>
          <p:nvSpPr>
            <p:cNvPr name="TextBox 8" id="8"/>
            <p:cNvSpPr txBox="true"/>
            <p:nvPr/>
          </p:nvSpPr>
          <p:spPr>
            <a:xfrm>
              <a:off x="0" y="-19050"/>
              <a:ext cx="4775093" cy="725136"/>
            </a:xfrm>
            <a:prstGeom prst="rect">
              <a:avLst/>
            </a:prstGeom>
          </p:spPr>
          <p:txBody>
            <a:bodyPr anchor="ctr" rtlCol="false" tIns="50800" lIns="50800" bIns="50800" rIns="50800"/>
            <a:lstStyle/>
            <a:p>
              <a:pPr algn="ctr">
                <a:lnSpc>
                  <a:spcPts val="2859"/>
                </a:lnSpc>
              </a:pPr>
            </a:p>
          </p:txBody>
        </p:sp>
      </p:grpSp>
      <p:sp>
        <p:nvSpPr>
          <p:cNvPr name="Freeform 9" id="9"/>
          <p:cNvSpPr/>
          <p:nvPr/>
        </p:nvSpPr>
        <p:spPr>
          <a:xfrm flipH="false" flipV="false" rot="0">
            <a:off x="-1586068" y="-1808676"/>
            <a:ext cx="3172137" cy="4114800"/>
          </a:xfrm>
          <a:custGeom>
            <a:avLst/>
            <a:gdLst/>
            <a:ahLst/>
            <a:cxnLst/>
            <a:rect r="r" b="b" t="t" l="l"/>
            <a:pathLst>
              <a:path h="4114800" w="3172137">
                <a:moveTo>
                  <a:pt x="0" y="0"/>
                </a:moveTo>
                <a:lnTo>
                  <a:pt x="3172136" y="0"/>
                </a:lnTo>
                <a:lnTo>
                  <a:pt x="317213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874585" y="9258300"/>
            <a:ext cx="3806571" cy="2083232"/>
          </a:xfrm>
          <a:custGeom>
            <a:avLst/>
            <a:gdLst/>
            <a:ahLst/>
            <a:cxnLst/>
            <a:rect r="r" b="b" t="t" l="l"/>
            <a:pathLst>
              <a:path h="2083232" w="3806571">
                <a:moveTo>
                  <a:pt x="0" y="0"/>
                </a:moveTo>
                <a:lnTo>
                  <a:pt x="3806570" y="0"/>
                </a:lnTo>
                <a:lnTo>
                  <a:pt x="3806570" y="2083232"/>
                </a:lnTo>
                <a:lnTo>
                  <a:pt x="0" y="20832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831170" y="4884676"/>
            <a:ext cx="5461085" cy="556641"/>
          </a:xfrm>
          <a:prstGeom prst="rect">
            <a:avLst/>
          </a:prstGeom>
        </p:spPr>
        <p:txBody>
          <a:bodyPr anchor="t" rtlCol="false" tIns="0" lIns="0" bIns="0" rIns="0">
            <a:spAutoFit/>
          </a:bodyPr>
          <a:lstStyle/>
          <a:p>
            <a:pPr algn="ctr">
              <a:lnSpc>
                <a:spcPts val="4384"/>
              </a:lnSpc>
            </a:pPr>
            <a:r>
              <a:rPr lang="en-US" b="true" sz="3653" spc="182">
                <a:solidFill>
                  <a:srgbClr val="000000"/>
                </a:solidFill>
                <a:latin typeface="Open Sauce Bold"/>
                <a:ea typeface="Open Sauce Bold"/>
                <a:cs typeface="Open Sauce Bold"/>
                <a:sym typeface="Open Sauce Bold"/>
              </a:rPr>
              <a:t>Prarthana L D R</a:t>
            </a:r>
          </a:p>
        </p:txBody>
      </p:sp>
      <p:sp>
        <p:nvSpPr>
          <p:cNvPr name="TextBox 12" id="12"/>
          <p:cNvSpPr txBox="true"/>
          <p:nvPr/>
        </p:nvSpPr>
        <p:spPr>
          <a:xfrm rot="0">
            <a:off x="2814148" y="5811414"/>
            <a:ext cx="3495129" cy="457200"/>
          </a:xfrm>
          <a:prstGeom prst="rect">
            <a:avLst/>
          </a:prstGeom>
        </p:spPr>
        <p:txBody>
          <a:bodyPr anchor="t" rtlCol="false" tIns="0" lIns="0" bIns="0" rIns="0">
            <a:spAutoFit/>
          </a:bodyPr>
          <a:lstStyle/>
          <a:p>
            <a:pPr algn="ctr">
              <a:lnSpc>
                <a:spcPts val="3544"/>
              </a:lnSpc>
            </a:pPr>
            <a:r>
              <a:rPr lang="en-US" sz="2953" spc="147">
                <a:solidFill>
                  <a:srgbClr val="000000"/>
                </a:solidFill>
                <a:latin typeface="Open Sauce"/>
                <a:ea typeface="Open Sauce"/>
                <a:cs typeface="Open Sauce"/>
                <a:sym typeface="Open Sauce"/>
              </a:rPr>
              <a:t>IT22291578</a:t>
            </a:r>
          </a:p>
        </p:txBody>
      </p:sp>
      <p:sp>
        <p:nvSpPr>
          <p:cNvPr name="TextBox 13" id="13"/>
          <p:cNvSpPr txBox="true"/>
          <p:nvPr/>
        </p:nvSpPr>
        <p:spPr>
          <a:xfrm rot="0">
            <a:off x="3959600" y="613741"/>
            <a:ext cx="11979083" cy="1577153"/>
          </a:xfrm>
          <a:prstGeom prst="rect">
            <a:avLst/>
          </a:prstGeom>
        </p:spPr>
        <p:txBody>
          <a:bodyPr anchor="t" rtlCol="false" tIns="0" lIns="0" bIns="0" rIns="0">
            <a:spAutoFit/>
          </a:bodyPr>
          <a:lstStyle/>
          <a:p>
            <a:pPr algn="ctr" marL="0" indent="0" lvl="0">
              <a:lnSpc>
                <a:spcPts val="5862"/>
              </a:lnSpc>
              <a:spcBef>
                <a:spcPct val="0"/>
              </a:spcBef>
            </a:pPr>
            <a:r>
              <a:rPr lang="en-US" sz="5921" spc="207">
                <a:solidFill>
                  <a:srgbClr val="FFFFFF"/>
                </a:solidFill>
                <a:latin typeface="Poppins"/>
                <a:ea typeface="Poppins"/>
                <a:cs typeface="Poppins"/>
                <a:sym typeface="Poppins"/>
              </a:rPr>
              <a:t>Real-Time Obstacle Detection &amp; Alerting System</a:t>
            </a:r>
          </a:p>
        </p:txBody>
      </p:sp>
      <p:sp>
        <p:nvSpPr>
          <p:cNvPr name="Freeform 14" id="14"/>
          <p:cNvSpPr/>
          <p:nvPr/>
        </p:nvSpPr>
        <p:spPr>
          <a:xfrm flipH="false" flipV="false" rot="0">
            <a:off x="6797034" y="9258300"/>
            <a:ext cx="527363" cy="660258"/>
          </a:xfrm>
          <a:custGeom>
            <a:avLst/>
            <a:gdLst/>
            <a:ahLst/>
            <a:cxnLst/>
            <a:rect r="r" b="b" t="t" l="l"/>
            <a:pathLst>
              <a:path h="660258" w="527363">
                <a:moveTo>
                  <a:pt x="0" y="0"/>
                </a:moveTo>
                <a:lnTo>
                  <a:pt x="527363" y="0"/>
                </a:lnTo>
                <a:lnTo>
                  <a:pt x="527363" y="660258"/>
                </a:lnTo>
                <a:lnTo>
                  <a:pt x="0" y="660258"/>
                </a:lnTo>
                <a:lnTo>
                  <a:pt x="0" y="0"/>
                </a:lnTo>
                <a:close/>
              </a:path>
            </a:pathLst>
          </a:custGeom>
          <a:blipFill>
            <a:blip r:embed="rId8"/>
            <a:stretch>
              <a:fillRect l="0" t="0" r="0" b="0"/>
            </a:stretch>
          </a:blipFill>
        </p:spPr>
      </p:sp>
      <p:sp>
        <p:nvSpPr>
          <p:cNvPr name="TextBox 15" id="15"/>
          <p:cNvSpPr txBox="true"/>
          <p:nvPr/>
        </p:nvSpPr>
        <p:spPr>
          <a:xfrm rot="0">
            <a:off x="7481967" y="9229725"/>
            <a:ext cx="2860987" cy="611285"/>
          </a:xfrm>
          <a:prstGeom prst="rect">
            <a:avLst/>
          </a:prstGeom>
        </p:spPr>
        <p:txBody>
          <a:bodyPr anchor="t" rtlCol="false" tIns="0" lIns="0" bIns="0" rIns="0">
            <a:spAutoFit/>
          </a:bodyPr>
          <a:lstStyle/>
          <a:p>
            <a:pPr algn="ctr">
              <a:lnSpc>
                <a:spcPts val="2496"/>
              </a:lnSpc>
            </a:pPr>
            <a:r>
              <a:rPr lang="en-US" sz="1783" spc="89">
                <a:solidFill>
                  <a:srgbClr val="38368D"/>
                </a:solidFill>
                <a:latin typeface="Open Sauce"/>
                <a:ea typeface="Open Sauce"/>
                <a:cs typeface="Open Sauce"/>
                <a:sym typeface="Open Sauce"/>
              </a:rPr>
              <a:t>SLIIT</a:t>
            </a:r>
          </a:p>
          <a:p>
            <a:pPr algn="ctr">
              <a:lnSpc>
                <a:spcPts val="2496"/>
              </a:lnSpc>
            </a:pPr>
            <a:r>
              <a:rPr lang="en-US" sz="1783" spc="89">
                <a:solidFill>
                  <a:srgbClr val="38368D"/>
                </a:solidFill>
                <a:latin typeface="Open Sauce"/>
                <a:ea typeface="Open Sauce"/>
                <a:cs typeface="Open Sauce"/>
                <a:sym typeface="Open Sauce"/>
              </a:rPr>
              <a:t>Faculty of Computing</a:t>
            </a:r>
          </a:p>
        </p:txBody>
      </p:sp>
      <p:sp>
        <p:nvSpPr>
          <p:cNvPr name="TextBox 16" id="16"/>
          <p:cNvSpPr txBox="true"/>
          <p:nvPr/>
        </p:nvSpPr>
        <p:spPr>
          <a:xfrm rot="0">
            <a:off x="12637126" y="9578407"/>
            <a:ext cx="4230199" cy="340151"/>
          </a:xfrm>
          <a:prstGeom prst="rect">
            <a:avLst/>
          </a:prstGeom>
        </p:spPr>
        <p:txBody>
          <a:bodyPr anchor="t" rtlCol="false" tIns="0" lIns="0" bIns="0" rIns="0">
            <a:spAutoFit/>
          </a:bodyPr>
          <a:lstStyle/>
          <a:p>
            <a:pPr algn="ctr">
              <a:lnSpc>
                <a:spcPts val="2776"/>
              </a:lnSpc>
            </a:pPr>
            <a:r>
              <a:rPr lang="en-US" sz="1983" spc="99">
                <a:solidFill>
                  <a:srgbClr val="010179"/>
                </a:solidFill>
                <a:latin typeface="Open Sauce"/>
                <a:ea typeface="Open Sauce"/>
                <a:cs typeface="Open Sauce"/>
                <a:sym typeface="Open Sauce"/>
              </a:rPr>
              <a:t>Specialization  :  Data Science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TextBox 3" id="3"/>
          <p:cNvSpPr txBox="true"/>
          <p:nvPr/>
        </p:nvSpPr>
        <p:spPr>
          <a:xfrm rot="0">
            <a:off x="1129260" y="980476"/>
            <a:ext cx="16151993" cy="1573118"/>
          </a:xfrm>
          <a:prstGeom prst="rect">
            <a:avLst/>
          </a:prstGeom>
        </p:spPr>
        <p:txBody>
          <a:bodyPr anchor="t" rtlCol="false" tIns="0" lIns="0" bIns="0" rIns="0">
            <a:spAutoFit/>
          </a:bodyPr>
          <a:lstStyle/>
          <a:p>
            <a:pPr algn="l" marL="0" indent="0" lvl="0">
              <a:lnSpc>
                <a:spcPts val="5862"/>
              </a:lnSpc>
              <a:spcBef>
                <a:spcPct val="0"/>
              </a:spcBef>
            </a:pPr>
            <a:r>
              <a:rPr lang="en-US" sz="5921" spc="207">
                <a:solidFill>
                  <a:srgbClr val="040506"/>
                </a:solidFill>
                <a:latin typeface="Poppins"/>
                <a:ea typeface="Poppins"/>
                <a:cs typeface="Poppins"/>
                <a:sym typeface="Poppins"/>
              </a:rPr>
              <a:t>Real-Time Obstacle Detection &amp; Alerting System</a:t>
            </a:r>
          </a:p>
        </p:txBody>
      </p:sp>
      <p:sp>
        <p:nvSpPr>
          <p:cNvPr name="Freeform 4" id="4"/>
          <p:cNvSpPr/>
          <p:nvPr/>
        </p:nvSpPr>
        <p:spPr>
          <a:xfrm flipH="false" flipV="false" rot="-10800000">
            <a:off x="-305814" y="-323115"/>
            <a:ext cx="8744064" cy="2511931"/>
          </a:xfrm>
          <a:custGeom>
            <a:avLst/>
            <a:gdLst/>
            <a:ahLst/>
            <a:cxnLst/>
            <a:rect r="r" b="b" t="t" l="l"/>
            <a:pathLst>
              <a:path h="2511931" w="8744064">
                <a:moveTo>
                  <a:pt x="0" y="0"/>
                </a:moveTo>
                <a:lnTo>
                  <a:pt x="8744064" y="0"/>
                </a:lnTo>
                <a:lnTo>
                  <a:pt x="8744064" y="2511931"/>
                </a:lnTo>
                <a:lnTo>
                  <a:pt x="0" y="25119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340174" y="6892567"/>
            <a:ext cx="8681750" cy="3254396"/>
          </a:xfrm>
          <a:custGeom>
            <a:avLst/>
            <a:gdLst/>
            <a:ahLst/>
            <a:cxnLst/>
            <a:rect r="r" b="b" t="t" l="l"/>
            <a:pathLst>
              <a:path h="3254396" w="8681750">
                <a:moveTo>
                  <a:pt x="0" y="0"/>
                </a:moveTo>
                <a:lnTo>
                  <a:pt x="8681750" y="0"/>
                </a:lnTo>
                <a:lnTo>
                  <a:pt x="8681750" y="3254396"/>
                </a:lnTo>
                <a:lnTo>
                  <a:pt x="0" y="3254396"/>
                </a:lnTo>
                <a:lnTo>
                  <a:pt x="0" y="0"/>
                </a:lnTo>
                <a:close/>
              </a:path>
            </a:pathLst>
          </a:custGeom>
          <a:blipFill>
            <a:blip r:embed="rId5"/>
            <a:stretch>
              <a:fillRect l="-5879" t="-17924" r="0" b="0"/>
            </a:stretch>
          </a:blipFill>
        </p:spPr>
      </p:sp>
      <p:sp>
        <p:nvSpPr>
          <p:cNvPr name="TextBox 6" id="6"/>
          <p:cNvSpPr txBox="true"/>
          <p:nvPr/>
        </p:nvSpPr>
        <p:spPr>
          <a:xfrm rot="0">
            <a:off x="1183656" y="3393475"/>
            <a:ext cx="16590882" cy="1021080"/>
          </a:xfrm>
          <a:prstGeom prst="rect">
            <a:avLst/>
          </a:prstGeom>
        </p:spPr>
        <p:txBody>
          <a:bodyPr anchor="t" rtlCol="false" tIns="0" lIns="0" bIns="0" rIns="0">
            <a:spAutoFit/>
          </a:bodyPr>
          <a:lstStyle/>
          <a:p>
            <a:pPr algn="l" marL="431801" indent="-215900" lvl="1">
              <a:lnSpc>
                <a:spcPts val="2760"/>
              </a:lnSpc>
              <a:buFont typeface="Arial"/>
              <a:buChar char="•"/>
            </a:pPr>
            <a:r>
              <a:rPr lang="en-US" sz="2000" spc="104">
                <a:solidFill>
                  <a:srgbClr val="231F20"/>
                </a:solidFill>
                <a:latin typeface="Open Sauce"/>
                <a:ea typeface="Open Sauce"/>
                <a:cs typeface="Open Sauce"/>
                <a:sym typeface="Open Sauce"/>
              </a:rPr>
              <a:t>Train drivers and passengers are affected because obstacles on railway tracks are not detected early, leading to sudden braking, collisions, and unexpected train delays, making it difficult to predict accurate arrival times at the next station.</a:t>
            </a:r>
          </a:p>
        </p:txBody>
      </p:sp>
      <p:sp>
        <p:nvSpPr>
          <p:cNvPr name="TextBox 7" id="7"/>
          <p:cNvSpPr txBox="true"/>
          <p:nvPr/>
        </p:nvSpPr>
        <p:spPr>
          <a:xfrm rot="0">
            <a:off x="1028700" y="4993712"/>
            <a:ext cx="11835620" cy="1708150"/>
          </a:xfrm>
          <a:prstGeom prst="rect">
            <a:avLst/>
          </a:prstGeom>
        </p:spPr>
        <p:txBody>
          <a:bodyPr anchor="t" rtlCol="false" tIns="0" lIns="0" bIns="0" rIns="0">
            <a:spAutoFit/>
          </a:bodyPr>
          <a:lstStyle/>
          <a:p>
            <a:pPr algn="l" marL="431801" indent="-215900" lvl="1">
              <a:lnSpc>
                <a:spcPts val="2740"/>
              </a:lnSpc>
              <a:buFont typeface="Arial"/>
              <a:buChar char="•"/>
            </a:pPr>
            <a:r>
              <a:rPr lang="en-US" sz="2000" spc="104">
                <a:solidFill>
                  <a:srgbClr val="231F20"/>
                </a:solidFill>
                <a:latin typeface="Open Sauce"/>
                <a:ea typeface="Open Sauce"/>
                <a:cs typeface="Open Sauce"/>
                <a:sym typeface="Open Sauce"/>
              </a:rPr>
              <a:t>Detects tr</a:t>
            </a:r>
            <a:r>
              <a:rPr lang="en-US" sz="2000" spc="104">
                <a:solidFill>
                  <a:srgbClr val="231F20"/>
                </a:solidFill>
                <a:latin typeface="Open Sauce"/>
                <a:ea typeface="Open Sauce"/>
                <a:cs typeface="Open Sauce"/>
                <a:sym typeface="Open Sauce"/>
              </a:rPr>
              <a:t>ack obstacles early using radar and camera sensors</a:t>
            </a:r>
          </a:p>
          <a:p>
            <a:pPr algn="l" marL="431801" indent="-215900" lvl="1">
              <a:lnSpc>
                <a:spcPts val="2740"/>
              </a:lnSpc>
              <a:buFont typeface="Arial"/>
              <a:buChar char="•"/>
            </a:pPr>
            <a:r>
              <a:rPr lang="en-US" sz="2000" spc="104">
                <a:solidFill>
                  <a:srgbClr val="231F20"/>
                </a:solidFill>
                <a:latin typeface="Open Sauce"/>
                <a:ea typeface="Open Sauce"/>
                <a:cs typeface="Open Sauce"/>
                <a:sym typeface="Open Sauce"/>
              </a:rPr>
              <a:t>Measures train speed in real time using Hall Effect sensor</a:t>
            </a:r>
          </a:p>
          <a:p>
            <a:pPr algn="l" marL="431801" indent="-215900" lvl="1">
              <a:lnSpc>
                <a:spcPts val="2740"/>
              </a:lnSpc>
              <a:buFont typeface="Arial"/>
              <a:buChar char="•"/>
            </a:pPr>
            <a:r>
              <a:rPr lang="en-US" sz="2000" spc="104">
                <a:solidFill>
                  <a:srgbClr val="231F20"/>
                </a:solidFill>
                <a:latin typeface="Open Sauce"/>
                <a:ea typeface="Open Sauce"/>
                <a:cs typeface="Open Sauce"/>
                <a:sym typeface="Open Sauce"/>
              </a:rPr>
              <a:t>Calculates safe braking distance and triggers alerts to the driver</a:t>
            </a:r>
          </a:p>
          <a:p>
            <a:pPr algn="l" marL="431801" indent="-215900" lvl="1">
              <a:lnSpc>
                <a:spcPts val="2740"/>
              </a:lnSpc>
              <a:buFont typeface="Arial"/>
              <a:buChar char="•"/>
            </a:pPr>
            <a:r>
              <a:rPr lang="en-US" sz="2000" spc="104">
                <a:solidFill>
                  <a:srgbClr val="231F20"/>
                </a:solidFill>
                <a:latin typeface="Open Sauce"/>
                <a:ea typeface="Open Sauce"/>
                <a:cs typeface="Open Sauce"/>
                <a:sym typeface="Open Sauce"/>
              </a:rPr>
              <a:t>Predicts updated arrival time to the next railway station after obstacle detection</a:t>
            </a:r>
          </a:p>
          <a:p>
            <a:pPr algn="l">
              <a:lnSpc>
                <a:spcPts val="2760"/>
              </a:lnSpc>
            </a:pPr>
          </a:p>
        </p:txBody>
      </p:sp>
      <p:sp>
        <p:nvSpPr>
          <p:cNvPr name="TextBox 8" id="8"/>
          <p:cNvSpPr txBox="true"/>
          <p:nvPr/>
        </p:nvSpPr>
        <p:spPr>
          <a:xfrm rot="0">
            <a:off x="1183656" y="2843995"/>
            <a:ext cx="2231339" cy="335280"/>
          </a:xfrm>
          <a:prstGeom prst="rect">
            <a:avLst/>
          </a:prstGeom>
        </p:spPr>
        <p:txBody>
          <a:bodyPr anchor="t" rtlCol="false" tIns="0" lIns="0" bIns="0" rIns="0">
            <a:spAutoFit/>
          </a:bodyPr>
          <a:lstStyle/>
          <a:p>
            <a:pPr algn="l">
              <a:lnSpc>
                <a:spcPts val="2760"/>
              </a:lnSpc>
            </a:pPr>
            <a:r>
              <a:rPr lang="en-US" b="true" sz="2000" i="true" spc="104">
                <a:solidFill>
                  <a:srgbClr val="231F20"/>
                </a:solidFill>
                <a:latin typeface="Open Sauce Bold Italics"/>
                <a:ea typeface="Open Sauce Bold Italics"/>
                <a:cs typeface="Open Sauce Bold Italics"/>
                <a:sym typeface="Open Sauce Bold Italics"/>
              </a:rPr>
              <a:t>Sub Problem :</a:t>
            </a:r>
          </a:p>
        </p:txBody>
      </p:sp>
      <p:sp>
        <p:nvSpPr>
          <p:cNvPr name="TextBox 9" id="9"/>
          <p:cNvSpPr txBox="true"/>
          <p:nvPr/>
        </p:nvSpPr>
        <p:spPr>
          <a:xfrm rot="0">
            <a:off x="1028700" y="4467932"/>
            <a:ext cx="2231339" cy="335280"/>
          </a:xfrm>
          <a:prstGeom prst="rect">
            <a:avLst/>
          </a:prstGeom>
        </p:spPr>
        <p:txBody>
          <a:bodyPr anchor="t" rtlCol="false" tIns="0" lIns="0" bIns="0" rIns="0">
            <a:spAutoFit/>
          </a:bodyPr>
          <a:lstStyle/>
          <a:p>
            <a:pPr algn="l">
              <a:lnSpc>
                <a:spcPts val="2760"/>
              </a:lnSpc>
            </a:pPr>
            <a:r>
              <a:rPr lang="en-US" b="true" sz="2000" i="true" spc="104">
                <a:solidFill>
                  <a:srgbClr val="231F20"/>
                </a:solidFill>
                <a:latin typeface="Open Sauce Bold Italics"/>
                <a:ea typeface="Open Sauce Bold Italics"/>
                <a:cs typeface="Open Sauce Bold Italics"/>
                <a:sym typeface="Open Sauce Bold Italics"/>
              </a:rPr>
              <a:t>Solution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sp>
        <p:nvSpPr>
          <p:cNvPr name="Freeform 2" id="2"/>
          <p:cNvSpPr/>
          <p:nvPr/>
        </p:nvSpPr>
        <p:spPr>
          <a:xfrm flipH="false" flipV="false" rot="0">
            <a:off x="16384715" y="9009597"/>
            <a:ext cx="3806571" cy="2083232"/>
          </a:xfrm>
          <a:custGeom>
            <a:avLst/>
            <a:gdLst/>
            <a:ahLst/>
            <a:cxnLst/>
            <a:rect r="r" b="b" t="t" l="l"/>
            <a:pathLst>
              <a:path h="2083232" w="3806571">
                <a:moveTo>
                  <a:pt x="0" y="0"/>
                </a:moveTo>
                <a:lnTo>
                  <a:pt x="3806570" y="0"/>
                </a:lnTo>
                <a:lnTo>
                  <a:pt x="3806570" y="2083232"/>
                </a:lnTo>
                <a:lnTo>
                  <a:pt x="0" y="2083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882076" y="-20574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405" y="1320053"/>
            <a:ext cx="11301259" cy="4179857"/>
          </a:xfrm>
          <a:custGeom>
            <a:avLst/>
            <a:gdLst/>
            <a:ahLst/>
            <a:cxnLst/>
            <a:rect r="r" b="b" t="t" l="l"/>
            <a:pathLst>
              <a:path h="4179857" w="11301259">
                <a:moveTo>
                  <a:pt x="0" y="0"/>
                </a:moveTo>
                <a:lnTo>
                  <a:pt x="11301259" y="0"/>
                </a:lnTo>
                <a:lnTo>
                  <a:pt x="11301259" y="4179857"/>
                </a:lnTo>
                <a:lnTo>
                  <a:pt x="0" y="4179857"/>
                </a:lnTo>
                <a:lnTo>
                  <a:pt x="0" y="0"/>
                </a:lnTo>
                <a:close/>
              </a:path>
            </a:pathLst>
          </a:custGeom>
          <a:blipFill>
            <a:blip r:embed="rId6"/>
            <a:stretch>
              <a:fillRect l="0" t="-19302" r="0" b="0"/>
            </a:stretch>
          </a:blipFill>
        </p:spPr>
      </p:sp>
      <p:sp>
        <p:nvSpPr>
          <p:cNvPr name="TextBox 5" id="5"/>
          <p:cNvSpPr txBox="true"/>
          <p:nvPr/>
        </p:nvSpPr>
        <p:spPr>
          <a:xfrm rot="0">
            <a:off x="498647" y="454908"/>
            <a:ext cx="15095548" cy="643106"/>
          </a:xfrm>
          <a:prstGeom prst="rect">
            <a:avLst/>
          </a:prstGeom>
        </p:spPr>
        <p:txBody>
          <a:bodyPr anchor="t" rtlCol="false" tIns="0" lIns="0" bIns="0" rIns="0">
            <a:spAutoFit/>
          </a:bodyPr>
          <a:lstStyle/>
          <a:p>
            <a:pPr algn="l">
              <a:lnSpc>
                <a:spcPts val="4425"/>
              </a:lnSpc>
            </a:pPr>
            <a:r>
              <a:rPr lang="en-US" sz="4470" spc="156">
                <a:solidFill>
                  <a:srgbClr val="040506"/>
                </a:solidFill>
                <a:latin typeface="Poppins"/>
                <a:ea typeface="Poppins"/>
                <a:cs typeface="Poppins"/>
                <a:sym typeface="Poppins"/>
              </a:rPr>
              <a:t>Real-Time Obstacle Detection &amp; Alerting System</a:t>
            </a:r>
          </a:p>
        </p:txBody>
      </p:sp>
      <p:sp>
        <p:nvSpPr>
          <p:cNvPr name="TextBox 6" id="6"/>
          <p:cNvSpPr txBox="true"/>
          <p:nvPr/>
        </p:nvSpPr>
        <p:spPr>
          <a:xfrm rot="0">
            <a:off x="1028700" y="6471272"/>
            <a:ext cx="2231339" cy="335280"/>
          </a:xfrm>
          <a:prstGeom prst="rect">
            <a:avLst/>
          </a:prstGeom>
        </p:spPr>
        <p:txBody>
          <a:bodyPr anchor="t" rtlCol="false" tIns="0" lIns="0" bIns="0" rIns="0">
            <a:spAutoFit/>
          </a:bodyPr>
          <a:lstStyle/>
          <a:p>
            <a:pPr algn="l">
              <a:lnSpc>
                <a:spcPts val="2760"/>
              </a:lnSpc>
            </a:pPr>
            <a:r>
              <a:rPr lang="en-US" b="true" sz="2000" i="true" spc="104">
                <a:solidFill>
                  <a:srgbClr val="231F20"/>
                </a:solidFill>
                <a:latin typeface="Open Sauce Bold Italics"/>
                <a:ea typeface="Open Sauce Bold Italics"/>
                <a:cs typeface="Open Sauce Bold Italics"/>
                <a:sym typeface="Open Sauce Bold Italics"/>
              </a:rPr>
              <a:t>Contribution :</a:t>
            </a:r>
          </a:p>
        </p:txBody>
      </p:sp>
      <p:sp>
        <p:nvSpPr>
          <p:cNvPr name="TextBox 7" id="7"/>
          <p:cNvSpPr txBox="true"/>
          <p:nvPr/>
        </p:nvSpPr>
        <p:spPr>
          <a:xfrm rot="0">
            <a:off x="1619235" y="6851650"/>
            <a:ext cx="10138321" cy="3025775"/>
          </a:xfrm>
          <a:prstGeom prst="rect">
            <a:avLst/>
          </a:prstGeom>
        </p:spPr>
        <p:txBody>
          <a:bodyPr anchor="t" rtlCol="false" tIns="0" lIns="0" bIns="0" rIns="0">
            <a:spAutoFit/>
          </a:bodyPr>
          <a:lstStyle/>
          <a:p>
            <a:pPr algn="l" marL="431801" indent="-215900" lvl="1">
              <a:lnSpc>
                <a:spcPts val="4900"/>
              </a:lnSpc>
              <a:buFont typeface="Arial"/>
              <a:buChar char="•"/>
            </a:pPr>
            <a:r>
              <a:rPr lang="en-US" sz="2000" spc="104">
                <a:solidFill>
                  <a:srgbClr val="231F20"/>
                </a:solidFill>
                <a:latin typeface="Open Sauce"/>
                <a:ea typeface="Open Sauce"/>
                <a:cs typeface="Open Sauce"/>
                <a:sym typeface="Open Sauce"/>
              </a:rPr>
              <a:t>Created dataset using publicly available datasets &amp; custom datasets</a:t>
            </a:r>
          </a:p>
          <a:p>
            <a:pPr algn="l" marL="431801" indent="-215900" lvl="1">
              <a:lnSpc>
                <a:spcPts val="4900"/>
              </a:lnSpc>
              <a:buFont typeface="Arial"/>
              <a:buChar char="•"/>
            </a:pPr>
            <a:r>
              <a:rPr lang="en-US" sz="2000" spc="104">
                <a:solidFill>
                  <a:srgbClr val="231F20"/>
                </a:solidFill>
                <a:latin typeface="Open Sauce"/>
                <a:ea typeface="Open Sauce"/>
                <a:cs typeface="Open Sauce"/>
                <a:sym typeface="Open Sauce"/>
              </a:rPr>
              <a:t>Improves railway safety by reducing train–obstacle collisions</a:t>
            </a:r>
          </a:p>
          <a:p>
            <a:pPr algn="l" marL="431801" indent="-215900" lvl="1">
              <a:lnSpc>
                <a:spcPts val="4900"/>
              </a:lnSpc>
              <a:buFont typeface="Arial"/>
              <a:buChar char="•"/>
            </a:pPr>
            <a:r>
              <a:rPr lang="en-US" sz="2000" spc="104">
                <a:solidFill>
                  <a:srgbClr val="231F20"/>
                </a:solidFill>
                <a:latin typeface="Open Sauce"/>
                <a:ea typeface="Open Sauce"/>
                <a:cs typeface="Open Sauce"/>
                <a:sym typeface="Open Sauce"/>
              </a:rPr>
              <a:t>Supports drivers with real-time automated alerts</a:t>
            </a:r>
          </a:p>
          <a:p>
            <a:pPr algn="l" marL="431801" indent="-215900" lvl="1">
              <a:lnSpc>
                <a:spcPts val="4900"/>
              </a:lnSpc>
              <a:buFont typeface="Arial"/>
              <a:buChar char="•"/>
            </a:pPr>
            <a:r>
              <a:rPr lang="en-US" sz="2000" spc="104">
                <a:solidFill>
                  <a:srgbClr val="231F20"/>
                </a:solidFill>
                <a:latin typeface="Open Sauce"/>
                <a:ea typeface="Open Sauce"/>
                <a:cs typeface="Open Sauce"/>
                <a:sym typeface="Open Sauce"/>
              </a:rPr>
              <a:t>Enhances passenger experience through delay prediction</a:t>
            </a:r>
          </a:p>
          <a:p>
            <a:pPr algn="l" marL="431801" indent="-215900" lvl="1">
              <a:lnSpc>
                <a:spcPts val="4900"/>
              </a:lnSpc>
              <a:buFont typeface="Arial"/>
              <a:buChar char="•"/>
            </a:pPr>
            <a:r>
              <a:rPr lang="en-US" sz="2000" spc="104">
                <a:solidFill>
                  <a:srgbClr val="231F20"/>
                </a:solidFill>
                <a:latin typeface="Open Sauce"/>
                <a:ea typeface="Open Sauce"/>
                <a:cs typeface="Open Sauce"/>
                <a:sym typeface="Open Sauce"/>
              </a:rPr>
              <a:t>Integrates safety and operational efficiency in one system</a:t>
            </a:r>
          </a:p>
        </p:txBody>
      </p:sp>
      <p:sp>
        <p:nvSpPr>
          <p:cNvPr name="TextBox 8" id="8"/>
          <p:cNvSpPr txBox="true"/>
          <p:nvPr/>
        </p:nvSpPr>
        <p:spPr>
          <a:xfrm rot="0">
            <a:off x="11014228" y="2019300"/>
            <a:ext cx="3431609" cy="335280"/>
          </a:xfrm>
          <a:prstGeom prst="rect">
            <a:avLst/>
          </a:prstGeom>
        </p:spPr>
        <p:txBody>
          <a:bodyPr anchor="t" rtlCol="false" tIns="0" lIns="0" bIns="0" rIns="0">
            <a:spAutoFit/>
          </a:bodyPr>
          <a:lstStyle/>
          <a:p>
            <a:pPr algn="l">
              <a:lnSpc>
                <a:spcPts val="2760"/>
              </a:lnSpc>
            </a:pPr>
            <a:r>
              <a:rPr lang="en-US" b="true" sz="2000" i="true" spc="104">
                <a:solidFill>
                  <a:srgbClr val="231F20"/>
                </a:solidFill>
                <a:latin typeface="Open Sauce Bold Italics"/>
                <a:ea typeface="Open Sauce Bold Italics"/>
                <a:cs typeface="Open Sauce Bold Italics"/>
                <a:sym typeface="Open Sauce Bold Italics"/>
              </a:rPr>
              <a:t>User Requirements :</a:t>
            </a:r>
          </a:p>
        </p:txBody>
      </p:sp>
      <p:sp>
        <p:nvSpPr>
          <p:cNvPr name="TextBox 9" id="9"/>
          <p:cNvSpPr txBox="true"/>
          <p:nvPr/>
        </p:nvSpPr>
        <p:spPr>
          <a:xfrm rot="0">
            <a:off x="11007790" y="2619196"/>
            <a:ext cx="3438046" cy="335280"/>
          </a:xfrm>
          <a:prstGeom prst="rect">
            <a:avLst/>
          </a:prstGeom>
        </p:spPr>
        <p:txBody>
          <a:bodyPr anchor="t" rtlCol="false" tIns="0" lIns="0" bIns="0" rIns="0">
            <a:spAutoFit/>
          </a:bodyPr>
          <a:lstStyle/>
          <a:p>
            <a:pPr algn="l" marL="431801" indent="-215900" lvl="1">
              <a:lnSpc>
                <a:spcPts val="2760"/>
              </a:lnSpc>
              <a:buFont typeface="Arial"/>
              <a:buChar char="•"/>
            </a:pPr>
            <a:r>
              <a:rPr lang="en-US" sz="2000" spc="104">
                <a:solidFill>
                  <a:srgbClr val="231F20"/>
                </a:solidFill>
                <a:latin typeface="Open Sauce"/>
                <a:ea typeface="Open Sauce"/>
                <a:cs typeface="Open Sauce"/>
                <a:sym typeface="Open Sauce"/>
              </a:rPr>
              <a:t>For Train Drivers</a:t>
            </a:r>
          </a:p>
        </p:txBody>
      </p:sp>
      <p:sp>
        <p:nvSpPr>
          <p:cNvPr name="TextBox 10" id="10"/>
          <p:cNvSpPr txBox="true"/>
          <p:nvPr/>
        </p:nvSpPr>
        <p:spPr>
          <a:xfrm rot="0">
            <a:off x="11339039" y="3168292"/>
            <a:ext cx="7164741" cy="1706880"/>
          </a:xfrm>
          <a:prstGeom prst="rect">
            <a:avLst/>
          </a:prstGeom>
        </p:spPr>
        <p:txBody>
          <a:bodyPr anchor="t" rtlCol="false" tIns="0" lIns="0" bIns="0" rIns="0">
            <a:spAutoFit/>
          </a:bodyPr>
          <a:lstStyle/>
          <a:p>
            <a:pPr algn="l" marL="431801" indent="-215900" lvl="1">
              <a:lnSpc>
                <a:spcPts val="2760"/>
              </a:lnSpc>
              <a:buFont typeface="Arial"/>
              <a:buChar char="•"/>
            </a:pPr>
            <a:r>
              <a:rPr lang="en-US" sz="2000" spc="104">
                <a:solidFill>
                  <a:srgbClr val="231F20"/>
                </a:solidFill>
                <a:latin typeface="Open Sauce"/>
                <a:ea typeface="Open Sauce"/>
                <a:cs typeface="Open Sauce"/>
                <a:sym typeface="Open Sauce"/>
              </a:rPr>
              <a:t>Early warning of obstacles on the track</a:t>
            </a:r>
          </a:p>
          <a:p>
            <a:pPr algn="l" marL="431801" indent="-215900" lvl="1">
              <a:lnSpc>
                <a:spcPts val="2760"/>
              </a:lnSpc>
              <a:buFont typeface="Arial"/>
              <a:buChar char="•"/>
            </a:pPr>
            <a:r>
              <a:rPr lang="en-US" sz="2000" spc="104">
                <a:solidFill>
                  <a:srgbClr val="231F20"/>
                </a:solidFill>
                <a:latin typeface="Open Sauce"/>
                <a:ea typeface="Open Sauce"/>
                <a:cs typeface="Open Sauce"/>
                <a:sym typeface="Open Sauce"/>
              </a:rPr>
              <a:t>Real-time decision support for braking</a:t>
            </a:r>
          </a:p>
          <a:p>
            <a:pPr algn="l" marL="431801" indent="-215900" lvl="1">
              <a:lnSpc>
                <a:spcPts val="2760"/>
              </a:lnSpc>
              <a:buFont typeface="Arial"/>
              <a:buChar char="•"/>
            </a:pPr>
            <a:r>
              <a:rPr lang="en-US" sz="2000" spc="104">
                <a:solidFill>
                  <a:srgbClr val="231F20"/>
                </a:solidFill>
                <a:latin typeface="Open Sauce"/>
                <a:ea typeface="Open Sauce"/>
                <a:cs typeface="Open Sauce"/>
                <a:sym typeface="Open Sauce"/>
              </a:rPr>
              <a:t>Reduced dependence on manual observation</a:t>
            </a:r>
          </a:p>
          <a:p>
            <a:pPr algn="l" marL="431801" indent="-215900" lvl="1">
              <a:lnSpc>
                <a:spcPts val="2760"/>
              </a:lnSpc>
              <a:buFont typeface="Arial"/>
              <a:buChar char="•"/>
            </a:pPr>
            <a:r>
              <a:rPr lang="en-US" sz="2000" spc="104">
                <a:solidFill>
                  <a:srgbClr val="231F20"/>
                </a:solidFill>
                <a:latin typeface="Open Sauce"/>
                <a:ea typeface="Open Sauce"/>
                <a:cs typeface="Open Sauce"/>
                <a:sym typeface="Open Sauce"/>
              </a:rPr>
              <a:t>Improved driving safety and confidence</a:t>
            </a:r>
          </a:p>
          <a:p>
            <a:pPr algn="l">
              <a:lnSpc>
                <a:spcPts val="2760"/>
              </a:lnSpc>
            </a:pPr>
          </a:p>
        </p:txBody>
      </p:sp>
      <p:sp>
        <p:nvSpPr>
          <p:cNvPr name="TextBox 11" id="11"/>
          <p:cNvSpPr txBox="true"/>
          <p:nvPr/>
        </p:nvSpPr>
        <p:spPr>
          <a:xfrm rot="0">
            <a:off x="11156854" y="5654040"/>
            <a:ext cx="6595505" cy="1363980"/>
          </a:xfrm>
          <a:prstGeom prst="rect">
            <a:avLst/>
          </a:prstGeom>
        </p:spPr>
        <p:txBody>
          <a:bodyPr anchor="t" rtlCol="false" tIns="0" lIns="0" bIns="0" rIns="0">
            <a:spAutoFit/>
          </a:bodyPr>
          <a:lstStyle/>
          <a:p>
            <a:pPr algn="l" marL="431801" indent="-215900" lvl="1">
              <a:lnSpc>
                <a:spcPts val="2760"/>
              </a:lnSpc>
              <a:buFont typeface="Arial"/>
              <a:buChar char="•"/>
            </a:pPr>
            <a:r>
              <a:rPr lang="en-US" sz="2000" spc="104">
                <a:solidFill>
                  <a:srgbClr val="231F20"/>
                </a:solidFill>
                <a:latin typeface="Open Sauce"/>
                <a:ea typeface="Open Sauce"/>
                <a:cs typeface="Open Sauce"/>
                <a:sym typeface="Open Sauce"/>
              </a:rPr>
              <a:t>Advance information on train delays</a:t>
            </a:r>
          </a:p>
          <a:p>
            <a:pPr algn="l" marL="431801" indent="-215900" lvl="1">
              <a:lnSpc>
                <a:spcPts val="2760"/>
              </a:lnSpc>
              <a:buFont typeface="Arial"/>
              <a:buChar char="•"/>
            </a:pPr>
            <a:r>
              <a:rPr lang="en-US" sz="2000" spc="104">
                <a:solidFill>
                  <a:srgbClr val="231F20"/>
                </a:solidFill>
                <a:latin typeface="Open Sauce"/>
                <a:ea typeface="Open Sauce"/>
                <a:cs typeface="Open Sauce"/>
                <a:sym typeface="Open Sauce"/>
              </a:rPr>
              <a:t>Accurate prediction of arrival time at the next station</a:t>
            </a:r>
          </a:p>
          <a:p>
            <a:pPr algn="l">
              <a:lnSpc>
                <a:spcPts val="2760"/>
              </a:lnSpc>
            </a:pPr>
          </a:p>
        </p:txBody>
      </p:sp>
      <p:sp>
        <p:nvSpPr>
          <p:cNvPr name="TextBox 12" id="12"/>
          <p:cNvSpPr txBox="true"/>
          <p:nvPr/>
        </p:nvSpPr>
        <p:spPr>
          <a:xfrm rot="0">
            <a:off x="11007790" y="4956810"/>
            <a:ext cx="5354554" cy="335280"/>
          </a:xfrm>
          <a:prstGeom prst="rect">
            <a:avLst/>
          </a:prstGeom>
        </p:spPr>
        <p:txBody>
          <a:bodyPr anchor="t" rtlCol="false" tIns="0" lIns="0" bIns="0" rIns="0">
            <a:spAutoFit/>
          </a:bodyPr>
          <a:lstStyle/>
          <a:p>
            <a:pPr algn="l" marL="431801" indent="-215900" lvl="1">
              <a:lnSpc>
                <a:spcPts val="2760"/>
              </a:lnSpc>
              <a:buFont typeface="Arial"/>
              <a:buChar char="•"/>
            </a:pPr>
            <a:r>
              <a:rPr lang="en-US" sz="2000" spc="104">
                <a:solidFill>
                  <a:srgbClr val="231F20"/>
                </a:solidFill>
                <a:latin typeface="Open Sauce"/>
                <a:ea typeface="Open Sauce"/>
                <a:cs typeface="Open Sauce"/>
                <a:sym typeface="Open Sauce"/>
              </a:rPr>
              <a:t>For Station Operators/ Passengers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a:grpSpLocks noChangeAspect="true"/>
          </p:cNvGrpSpPr>
          <p:nvPr/>
        </p:nvGrpSpPr>
        <p:grpSpPr>
          <a:xfrm rot="0">
            <a:off x="12245150" y="3323658"/>
            <a:ext cx="5014150" cy="4994563"/>
            <a:chOff x="0" y="0"/>
            <a:chExt cx="6502400" cy="6477000"/>
          </a:xfrm>
        </p:grpSpPr>
        <p:sp>
          <p:nvSpPr>
            <p:cNvPr name="Freeform 4" id="4"/>
            <p:cNvSpPr/>
            <p:nvPr/>
          </p:nvSpPr>
          <p:spPr>
            <a:xfrm flipH="false" flipV="false" rot="0">
              <a:off x="116940" y="124149"/>
              <a:ext cx="6262195" cy="6234315"/>
            </a:xfrm>
            <a:custGeom>
              <a:avLst/>
              <a:gdLst/>
              <a:ahLst/>
              <a:cxnLst/>
              <a:rect r="r" b="b" t="t" l="l"/>
              <a:pathLst>
                <a:path h="6234315" w="6262195">
                  <a:moveTo>
                    <a:pt x="3131098" y="32"/>
                  </a:moveTo>
                  <a:cubicBezTo>
                    <a:pt x="2014135" y="-4964"/>
                    <a:pt x="979875" y="588062"/>
                    <a:pt x="419947" y="1554557"/>
                  </a:cubicBezTo>
                  <a:cubicBezTo>
                    <a:pt x="-139982" y="2521051"/>
                    <a:pt x="-139982" y="3713264"/>
                    <a:pt x="419947" y="4679759"/>
                  </a:cubicBezTo>
                  <a:cubicBezTo>
                    <a:pt x="979875" y="5646253"/>
                    <a:pt x="2014135" y="6239279"/>
                    <a:pt x="3131098" y="6234284"/>
                  </a:cubicBezTo>
                  <a:cubicBezTo>
                    <a:pt x="4248061" y="6239279"/>
                    <a:pt x="5282321" y="5646253"/>
                    <a:pt x="5842249" y="4679759"/>
                  </a:cubicBezTo>
                  <a:cubicBezTo>
                    <a:pt x="6402178" y="3713265"/>
                    <a:pt x="6402178" y="2521051"/>
                    <a:pt x="5842249" y="1554557"/>
                  </a:cubicBezTo>
                  <a:cubicBezTo>
                    <a:pt x="5282321" y="588063"/>
                    <a:pt x="4248061" y="-4963"/>
                    <a:pt x="3131098" y="32"/>
                  </a:cubicBezTo>
                  <a:close/>
                </a:path>
              </a:pathLst>
            </a:custGeom>
            <a:blipFill>
              <a:blip r:embed="rId3"/>
              <a:stretch>
                <a:fillRect l="223" t="-9139" r="223" b="-9139"/>
              </a:stretch>
            </a:blipFill>
          </p:spPr>
        </p:sp>
        <p:sp>
          <p:nvSpPr>
            <p:cNvPr name="Freeform 5" id="5"/>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F2F2F2"/>
            </a:solidFill>
          </p:spPr>
        </p:sp>
      </p:grpSp>
      <p:grpSp>
        <p:nvGrpSpPr>
          <p:cNvPr name="Group 6" id="6"/>
          <p:cNvGrpSpPr/>
          <p:nvPr/>
        </p:nvGrpSpPr>
        <p:grpSpPr>
          <a:xfrm rot="0">
            <a:off x="0" y="0"/>
            <a:ext cx="18130430" cy="2680919"/>
            <a:chOff x="0" y="0"/>
            <a:chExt cx="4775093" cy="706086"/>
          </a:xfrm>
        </p:grpSpPr>
        <p:sp>
          <p:nvSpPr>
            <p:cNvPr name="Freeform 7" id="7"/>
            <p:cNvSpPr/>
            <p:nvPr/>
          </p:nvSpPr>
          <p:spPr>
            <a:xfrm flipH="false" flipV="false" rot="0">
              <a:off x="0" y="0"/>
              <a:ext cx="4775093" cy="706086"/>
            </a:xfrm>
            <a:custGeom>
              <a:avLst/>
              <a:gdLst/>
              <a:ahLst/>
              <a:cxnLst/>
              <a:rect r="r" b="b" t="t" l="l"/>
              <a:pathLst>
                <a:path h="706086" w="4775093">
                  <a:moveTo>
                    <a:pt x="0" y="0"/>
                  </a:moveTo>
                  <a:lnTo>
                    <a:pt x="4775093" y="0"/>
                  </a:lnTo>
                  <a:lnTo>
                    <a:pt x="4775093" y="706086"/>
                  </a:lnTo>
                  <a:lnTo>
                    <a:pt x="0" y="706086"/>
                  </a:lnTo>
                  <a:close/>
                </a:path>
              </a:pathLst>
            </a:custGeom>
            <a:solidFill>
              <a:srgbClr val="1C5739"/>
            </a:solidFill>
          </p:spPr>
        </p:sp>
        <p:sp>
          <p:nvSpPr>
            <p:cNvPr name="TextBox 8" id="8"/>
            <p:cNvSpPr txBox="true"/>
            <p:nvPr/>
          </p:nvSpPr>
          <p:spPr>
            <a:xfrm>
              <a:off x="0" y="-19050"/>
              <a:ext cx="4775093" cy="725136"/>
            </a:xfrm>
            <a:prstGeom prst="rect">
              <a:avLst/>
            </a:prstGeom>
          </p:spPr>
          <p:txBody>
            <a:bodyPr anchor="ctr" rtlCol="false" tIns="50800" lIns="50800" bIns="50800" rIns="50800"/>
            <a:lstStyle/>
            <a:p>
              <a:pPr algn="ctr">
                <a:lnSpc>
                  <a:spcPts val="2859"/>
                </a:lnSpc>
              </a:pPr>
            </a:p>
          </p:txBody>
        </p:sp>
      </p:grpSp>
      <p:sp>
        <p:nvSpPr>
          <p:cNvPr name="Freeform 9" id="9"/>
          <p:cNvSpPr/>
          <p:nvPr/>
        </p:nvSpPr>
        <p:spPr>
          <a:xfrm flipH="false" flipV="false" rot="0">
            <a:off x="-1586068" y="-1808676"/>
            <a:ext cx="3172137" cy="4114800"/>
          </a:xfrm>
          <a:custGeom>
            <a:avLst/>
            <a:gdLst/>
            <a:ahLst/>
            <a:cxnLst/>
            <a:rect r="r" b="b" t="t" l="l"/>
            <a:pathLst>
              <a:path h="4114800" w="3172137">
                <a:moveTo>
                  <a:pt x="0" y="0"/>
                </a:moveTo>
                <a:lnTo>
                  <a:pt x="3172136" y="0"/>
                </a:lnTo>
                <a:lnTo>
                  <a:pt x="317213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874585" y="9258300"/>
            <a:ext cx="3806571" cy="2083232"/>
          </a:xfrm>
          <a:custGeom>
            <a:avLst/>
            <a:gdLst/>
            <a:ahLst/>
            <a:cxnLst/>
            <a:rect r="r" b="b" t="t" l="l"/>
            <a:pathLst>
              <a:path h="2083232" w="3806571">
                <a:moveTo>
                  <a:pt x="0" y="0"/>
                </a:moveTo>
                <a:lnTo>
                  <a:pt x="3806570" y="0"/>
                </a:lnTo>
                <a:lnTo>
                  <a:pt x="3806570" y="2083232"/>
                </a:lnTo>
                <a:lnTo>
                  <a:pt x="0" y="20832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831170" y="4884676"/>
            <a:ext cx="5461085" cy="556641"/>
          </a:xfrm>
          <a:prstGeom prst="rect">
            <a:avLst/>
          </a:prstGeom>
        </p:spPr>
        <p:txBody>
          <a:bodyPr anchor="t" rtlCol="false" tIns="0" lIns="0" bIns="0" rIns="0">
            <a:spAutoFit/>
          </a:bodyPr>
          <a:lstStyle/>
          <a:p>
            <a:pPr algn="ctr">
              <a:lnSpc>
                <a:spcPts val="4384"/>
              </a:lnSpc>
            </a:pPr>
            <a:r>
              <a:rPr lang="en-US" b="true" sz="3653" spc="182">
                <a:solidFill>
                  <a:srgbClr val="000000"/>
                </a:solidFill>
                <a:latin typeface="Open Sauce Bold"/>
                <a:ea typeface="Open Sauce Bold"/>
                <a:cs typeface="Open Sauce Bold"/>
                <a:sym typeface="Open Sauce Bold"/>
              </a:rPr>
              <a:t>Jayasinghe J M H C</a:t>
            </a:r>
          </a:p>
        </p:txBody>
      </p:sp>
      <p:sp>
        <p:nvSpPr>
          <p:cNvPr name="TextBox 12" id="12"/>
          <p:cNvSpPr txBox="true"/>
          <p:nvPr/>
        </p:nvSpPr>
        <p:spPr>
          <a:xfrm rot="0">
            <a:off x="2814148" y="5811414"/>
            <a:ext cx="3495129" cy="457200"/>
          </a:xfrm>
          <a:prstGeom prst="rect">
            <a:avLst/>
          </a:prstGeom>
        </p:spPr>
        <p:txBody>
          <a:bodyPr anchor="t" rtlCol="false" tIns="0" lIns="0" bIns="0" rIns="0">
            <a:spAutoFit/>
          </a:bodyPr>
          <a:lstStyle/>
          <a:p>
            <a:pPr algn="ctr">
              <a:lnSpc>
                <a:spcPts val="3544"/>
              </a:lnSpc>
            </a:pPr>
            <a:r>
              <a:rPr lang="en-US" sz="2953" spc="147">
                <a:solidFill>
                  <a:srgbClr val="000000"/>
                </a:solidFill>
                <a:latin typeface="Open Sauce"/>
                <a:ea typeface="Open Sauce"/>
                <a:cs typeface="Open Sauce"/>
                <a:sym typeface="Open Sauce"/>
              </a:rPr>
              <a:t>IT22597342</a:t>
            </a:r>
          </a:p>
        </p:txBody>
      </p:sp>
      <p:sp>
        <p:nvSpPr>
          <p:cNvPr name="TextBox 13" id="13"/>
          <p:cNvSpPr txBox="true"/>
          <p:nvPr/>
        </p:nvSpPr>
        <p:spPr>
          <a:xfrm rot="0">
            <a:off x="3959600" y="613741"/>
            <a:ext cx="11979083" cy="1577153"/>
          </a:xfrm>
          <a:prstGeom prst="rect">
            <a:avLst/>
          </a:prstGeom>
        </p:spPr>
        <p:txBody>
          <a:bodyPr anchor="t" rtlCol="false" tIns="0" lIns="0" bIns="0" rIns="0">
            <a:spAutoFit/>
          </a:bodyPr>
          <a:lstStyle/>
          <a:p>
            <a:pPr algn="ctr" marL="0" indent="0" lvl="0">
              <a:lnSpc>
                <a:spcPts val="5862"/>
              </a:lnSpc>
              <a:spcBef>
                <a:spcPct val="0"/>
              </a:spcBef>
            </a:pPr>
            <a:r>
              <a:rPr lang="en-US" sz="5921" spc="207">
                <a:solidFill>
                  <a:srgbClr val="FFFFFF"/>
                </a:solidFill>
                <a:latin typeface="Poppins"/>
                <a:ea typeface="Poppins"/>
                <a:cs typeface="Poppins"/>
                <a:sym typeface="Poppins"/>
              </a:rPr>
              <a:t>Intelligent Driver Support System</a:t>
            </a:r>
          </a:p>
        </p:txBody>
      </p:sp>
      <p:sp>
        <p:nvSpPr>
          <p:cNvPr name="Freeform 14" id="14"/>
          <p:cNvSpPr/>
          <p:nvPr/>
        </p:nvSpPr>
        <p:spPr>
          <a:xfrm flipH="false" flipV="false" rot="0">
            <a:off x="6797034" y="9258300"/>
            <a:ext cx="527363" cy="660258"/>
          </a:xfrm>
          <a:custGeom>
            <a:avLst/>
            <a:gdLst/>
            <a:ahLst/>
            <a:cxnLst/>
            <a:rect r="r" b="b" t="t" l="l"/>
            <a:pathLst>
              <a:path h="660258" w="527363">
                <a:moveTo>
                  <a:pt x="0" y="0"/>
                </a:moveTo>
                <a:lnTo>
                  <a:pt x="527363" y="0"/>
                </a:lnTo>
                <a:lnTo>
                  <a:pt x="527363" y="660258"/>
                </a:lnTo>
                <a:lnTo>
                  <a:pt x="0" y="660258"/>
                </a:lnTo>
                <a:lnTo>
                  <a:pt x="0" y="0"/>
                </a:lnTo>
                <a:close/>
              </a:path>
            </a:pathLst>
          </a:custGeom>
          <a:blipFill>
            <a:blip r:embed="rId8"/>
            <a:stretch>
              <a:fillRect l="0" t="0" r="0" b="0"/>
            </a:stretch>
          </a:blipFill>
        </p:spPr>
      </p:sp>
      <p:sp>
        <p:nvSpPr>
          <p:cNvPr name="TextBox 15" id="15"/>
          <p:cNvSpPr txBox="true"/>
          <p:nvPr/>
        </p:nvSpPr>
        <p:spPr>
          <a:xfrm rot="0">
            <a:off x="7481967" y="9229725"/>
            <a:ext cx="2860987" cy="611285"/>
          </a:xfrm>
          <a:prstGeom prst="rect">
            <a:avLst/>
          </a:prstGeom>
        </p:spPr>
        <p:txBody>
          <a:bodyPr anchor="t" rtlCol="false" tIns="0" lIns="0" bIns="0" rIns="0">
            <a:spAutoFit/>
          </a:bodyPr>
          <a:lstStyle/>
          <a:p>
            <a:pPr algn="ctr">
              <a:lnSpc>
                <a:spcPts val="2496"/>
              </a:lnSpc>
            </a:pPr>
            <a:r>
              <a:rPr lang="en-US" sz="1783" spc="89">
                <a:solidFill>
                  <a:srgbClr val="38368D"/>
                </a:solidFill>
                <a:latin typeface="Open Sauce"/>
                <a:ea typeface="Open Sauce"/>
                <a:cs typeface="Open Sauce"/>
                <a:sym typeface="Open Sauce"/>
              </a:rPr>
              <a:t>SLIIT</a:t>
            </a:r>
          </a:p>
          <a:p>
            <a:pPr algn="ctr">
              <a:lnSpc>
                <a:spcPts val="2496"/>
              </a:lnSpc>
            </a:pPr>
            <a:r>
              <a:rPr lang="en-US" sz="1783" spc="89">
                <a:solidFill>
                  <a:srgbClr val="38368D"/>
                </a:solidFill>
                <a:latin typeface="Open Sauce"/>
                <a:ea typeface="Open Sauce"/>
                <a:cs typeface="Open Sauce"/>
                <a:sym typeface="Open Sauce"/>
              </a:rPr>
              <a:t>Faculty of Computing</a:t>
            </a:r>
          </a:p>
        </p:txBody>
      </p:sp>
      <p:sp>
        <p:nvSpPr>
          <p:cNvPr name="TextBox 16" id="16"/>
          <p:cNvSpPr txBox="true"/>
          <p:nvPr/>
        </p:nvSpPr>
        <p:spPr>
          <a:xfrm rot="0">
            <a:off x="12637126" y="9578407"/>
            <a:ext cx="4230199" cy="340151"/>
          </a:xfrm>
          <a:prstGeom prst="rect">
            <a:avLst/>
          </a:prstGeom>
        </p:spPr>
        <p:txBody>
          <a:bodyPr anchor="t" rtlCol="false" tIns="0" lIns="0" bIns="0" rIns="0">
            <a:spAutoFit/>
          </a:bodyPr>
          <a:lstStyle/>
          <a:p>
            <a:pPr algn="ctr">
              <a:lnSpc>
                <a:spcPts val="2776"/>
              </a:lnSpc>
            </a:pPr>
            <a:r>
              <a:rPr lang="en-US" sz="1983" spc="99">
                <a:solidFill>
                  <a:srgbClr val="010179"/>
                </a:solidFill>
                <a:latin typeface="Open Sauce"/>
                <a:ea typeface="Open Sauce"/>
                <a:cs typeface="Open Sauce"/>
                <a:sym typeface="Open Sauce"/>
              </a:rPr>
              <a:t>Specialization  :  Data Science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11811925" y="5547788"/>
            <a:ext cx="5945579" cy="3303804"/>
          </a:xfrm>
          <a:custGeom>
            <a:avLst/>
            <a:gdLst/>
            <a:ahLst/>
            <a:cxnLst/>
            <a:rect r="r" b="b" t="t" l="l"/>
            <a:pathLst>
              <a:path h="3303804" w="5945579">
                <a:moveTo>
                  <a:pt x="0" y="0"/>
                </a:moveTo>
                <a:lnTo>
                  <a:pt x="5945579" y="0"/>
                </a:lnTo>
                <a:lnTo>
                  <a:pt x="5945579" y="3303804"/>
                </a:lnTo>
                <a:lnTo>
                  <a:pt x="0" y="3303804"/>
                </a:lnTo>
                <a:lnTo>
                  <a:pt x="0" y="0"/>
                </a:lnTo>
                <a:close/>
              </a:path>
            </a:pathLst>
          </a:custGeom>
          <a:blipFill>
            <a:blip r:embed="rId3"/>
            <a:stretch>
              <a:fillRect l="0" t="-9186" r="0" b="-10569"/>
            </a:stretch>
          </a:blipFill>
        </p:spPr>
      </p:sp>
      <p:sp>
        <p:nvSpPr>
          <p:cNvPr name="TextBox 4" id="4"/>
          <p:cNvSpPr txBox="true"/>
          <p:nvPr/>
        </p:nvSpPr>
        <p:spPr>
          <a:xfrm rot="0">
            <a:off x="1273696" y="1227835"/>
            <a:ext cx="13879747" cy="832186"/>
          </a:xfrm>
          <a:prstGeom prst="rect">
            <a:avLst/>
          </a:prstGeom>
        </p:spPr>
        <p:txBody>
          <a:bodyPr anchor="t" rtlCol="false" tIns="0" lIns="0" bIns="0" rIns="0">
            <a:spAutoFit/>
          </a:bodyPr>
          <a:lstStyle/>
          <a:p>
            <a:pPr algn="l" marL="0" indent="0" lvl="0">
              <a:lnSpc>
                <a:spcPts val="5862"/>
              </a:lnSpc>
              <a:spcBef>
                <a:spcPct val="0"/>
              </a:spcBef>
            </a:pPr>
            <a:r>
              <a:rPr lang="en-US" sz="5921" spc="207">
                <a:solidFill>
                  <a:srgbClr val="040506"/>
                </a:solidFill>
                <a:latin typeface="Poppins"/>
                <a:ea typeface="Poppins"/>
                <a:cs typeface="Poppins"/>
                <a:sym typeface="Poppins"/>
              </a:rPr>
              <a:t>Intelligent Driver support system</a:t>
            </a:r>
          </a:p>
        </p:txBody>
      </p:sp>
      <p:sp>
        <p:nvSpPr>
          <p:cNvPr name="TextBox 5" id="5"/>
          <p:cNvSpPr txBox="true"/>
          <p:nvPr/>
        </p:nvSpPr>
        <p:spPr>
          <a:xfrm rot="0">
            <a:off x="1028700" y="2868175"/>
            <a:ext cx="16483808" cy="1795432"/>
          </a:xfrm>
          <a:prstGeom prst="rect">
            <a:avLst/>
          </a:prstGeom>
        </p:spPr>
        <p:txBody>
          <a:bodyPr anchor="t" rtlCol="false" tIns="0" lIns="0" bIns="0" rIns="0">
            <a:spAutoFit/>
          </a:bodyPr>
          <a:lstStyle/>
          <a:p>
            <a:pPr algn="just" marL="459078" indent="-229539" lvl="1">
              <a:lnSpc>
                <a:spcPts val="2934"/>
              </a:lnSpc>
              <a:buFont typeface="Arial"/>
              <a:buChar char="•"/>
            </a:pPr>
            <a:r>
              <a:rPr lang="en-US" sz="2126" spc="144">
                <a:solidFill>
                  <a:srgbClr val="231F20"/>
                </a:solidFill>
                <a:latin typeface="Open Sauce"/>
                <a:ea typeface="Open Sauce"/>
                <a:cs typeface="Open Sauce"/>
                <a:sym typeface="Open Sauce"/>
              </a:rPr>
              <a:t>Train driver fatigue and drowsiness often go undetected in real time, increasing the risk of accidents.</a:t>
            </a:r>
          </a:p>
          <a:p>
            <a:pPr algn="just">
              <a:lnSpc>
                <a:spcPts val="2934"/>
              </a:lnSpc>
            </a:pPr>
          </a:p>
          <a:p>
            <a:pPr algn="just" marL="459078" indent="-229539" lvl="1">
              <a:lnSpc>
                <a:spcPts val="2934"/>
              </a:lnSpc>
              <a:buFont typeface="Arial"/>
              <a:buChar char="•"/>
            </a:pPr>
            <a:r>
              <a:rPr lang="en-US" sz="2126" spc="144">
                <a:solidFill>
                  <a:srgbClr val="231F20"/>
                </a:solidFill>
                <a:latin typeface="Open Sauce"/>
                <a:ea typeface="Open Sauce"/>
                <a:cs typeface="Open Sauce"/>
                <a:sym typeface="Open Sauce"/>
              </a:rPr>
              <a:t>Single-method detection systems (facial analysis only) lead to false alarms and unreliable performance.</a:t>
            </a:r>
          </a:p>
          <a:p>
            <a:pPr algn="just">
              <a:lnSpc>
                <a:spcPts val="3348"/>
              </a:lnSpc>
              <a:spcBef>
                <a:spcPct val="0"/>
              </a:spcBef>
            </a:pPr>
          </a:p>
          <a:p>
            <a:pPr algn="just" marL="0" indent="0" lvl="0">
              <a:lnSpc>
                <a:spcPts val="2244"/>
              </a:lnSpc>
              <a:spcBef>
                <a:spcPct val="0"/>
              </a:spcBef>
            </a:pPr>
          </a:p>
        </p:txBody>
      </p:sp>
      <p:sp>
        <p:nvSpPr>
          <p:cNvPr name="TextBox 6" id="6"/>
          <p:cNvSpPr txBox="true"/>
          <p:nvPr/>
        </p:nvSpPr>
        <p:spPr>
          <a:xfrm rot="0">
            <a:off x="1273649" y="2280326"/>
            <a:ext cx="11794619" cy="435449"/>
          </a:xfrm>
          <a:prstGeom prst="rect">
            <a:avLst/>
          </a:prstGeom>
        </p:spPr>
        <p:txBody>
          <a:bodyPr anchor="t" rtlCol="false" tIns="0" lIns="0" bIns="0" rIns="0">
            <a:spAutoFit/>
          </a:bodyPr>
          <a:lstStyle/>
          <a:p>
            <a:pPr algn="l" marL="0" indent="0" lvl="0">
              <a:lnSpc>
                <a:spcPts val="3613"/>
              </a:lnSpc>
              <a:spcBef>
                <a:spcPct val="0"/>
              </a:spcBef>
            </a:pPr>
            <a:r>
              <a:rPr lang="en-US" b="true" sz="2618" spc="256">
                <a:solidFill>
                  <a:srgbClr val="1C5739"/>
                </a:solidFill>
                <a:latin typeface="Open Sauce Bold"/>
                <a:ea typeface="Open Sauce Bold"/>
                <a:cs typeface="Open Sauce Bold"/>
                <a:sym typeface="Open Sauce Bold"/>
              </a:rPr>
              <a:t>Sub-Problem:</a:t>
            </a:r>
          </a:p>
        </p:txBody>
      </p:sp>
      <p:sp>
        <p:nvSpPr>
          <p:cNvPr name="TextBox 7" id="7"/>
          <p:cNvSpPr txBox="true"/>
          <p:nvPr/>
        </p:nvSpPr>
        <p:spPr>
          <a:xfrm rot="0">
            <a:off x="1028700" y="5362575"/>
            <a:ext cx="10309792" cy="4289460"/>
          </a:xfrm>
          <a:prstGeom prst="rect">
            <a:avLst/>
          </a:prstGeom>
        </p:spPr>
        <p:txBody>
          <a:bodyPr anchor="t" rtlCol="false" tIns="0" lIns="0" bIns="0" rIns="0">
            <a:spAutoFit/>
          </a:bodyPr>
          <a:lstStyle/>
          <a:p>
            <a:pPr algn="l" marL="443271" indent="-221636" lvl="1">
              <a:lnSpc>
                <a:spcPts val="2833"/>
              </a:lnSpc>
              <a:buFont typeface="Arial"/>
              <a:buChar char="•"/>
            </a:pPr>
            <a:r>
              <a:rPr lang="en-US" sz="2053" spc="139">
                <a:solidFill>
                  <a:srgbClr val="231F20"/>
                </a:solidFill>
                <a:latin typeface="Open Sauce"/>
                <a:ea typeface="Open Sauce"/>
                <a:cs typeface="Open Sauce"/>
                <a:sym typeface="Open Sauce"/>
              </a:rPr>
              <a:t>A multi-modal fatigue detection system combining facial analysis and sensor-based monitoring.</a:t>
            </a:r>
          </a:p>
          <a:p>
            <a:pPr algn="l">
              <a:lnSpc>
                <a:spcPts val="2833"/>
              </a:lnSpc>
            </a:pPr>
          </a:p>
          <a:p>
            <a:pPr algn="l" marL="443271" indent="-221636" lvl="1">
              <a:lnSpc>
                <a:spcPts val="2833"/>
              </a:lnSpc>
              <a:buFont typeface="Arial"/>
              <a:buChar char="•"/>
            </a:pPr>
            <a:r>
              <a:rPr lang="en-US" sz="2053" spc="139">
                <a:solidFill>
                  <a:srgbClr val="231F20"/>
                </a:solidFill>
                <a:latin typeface="Open Sauce"/>
                <a:ea typeface="Open Sauce"/>
                <a:cs typeface="Open Sauce"/>
                <a:sym typeface="Open Sauce"/>
              </a:rPr>
              <a:t>Detects drowsiness using EAR, MAR, head movement, and heart rate patterns.</a:t>
            </a:r>
          </a:p>
          <a:p>
            <a:pPr algn="l">
              <a:lnSpc>
                <a:spcPts val="2833"/>
              </a:lnSpc>
            </a:pPr>
          </a:p>
          <a:p>
            <a:pPr algn="l" marL="443271" indent="-221636" lvl="1">
              <a:lnSpc>
                <a:spcPts val="2833"/>
              </a:lnSpc>
              <a:buFont typeface="Arial"/>
              <a:buChar char="•"/>
            </a:pPr>
            <a:r>
              <a:rPr lang="en-US" sz="2053" spc="139">
                <a:solidFill>
                  <a:srgbClr val="231F20"/>
                </a:solidFill>
                <a:latin typeface="Open Sauce"/>
                <a:ea typeface="Open Sauce"/>
                <a:cs typeface="Open Sauce"/>
                <a:sym typeface="Open Sauce"/>
              </a:rPr>
              <a:t>App</a:t>
            </a:r>
            <a:r>
              <a:rPr lang="en-US" sz="2053" spc="139">
                <a:solidFill>
                  <a:srgbClr val="231F20"/>
                </a:solidFill>
                <a:latin typeface="Open Sauce"/>
                <a:ea typeface="Open Sauce"/>
                <a:cs typeface="Open Sauce"/>
                <a:sym typeface="Open Sauce"/>
              </a:rPr>
              <a:t>lies machine learning models to classify driver alertness in real time.</a:t>
            </a:r>
          </a:p>
          <a:p>
            <a:pPr algn="l">
              <a:lnSpc>
                <a:spcPts val="2833"/>
              </a:lnSpc>
            </a:pPr>
          </a:p>
          <a:p>
            <a:pPr algn="l" marL="443271" indent="-221636" lvl="1">
              <a:lnSpc>
                <a:spcPts val="2833"/>
              </a:lnSpc>
              <a:buFont typeface="Arial"/>
              <a:buChar char="•"/>
            </a:pPr>
            <a:r>
              <a:rPr lang="en-US" sz="2053" spc="139">
                <a:solidFill>
                  <a:srgbClr val="231F20"/>
                </a:solidFill>
                <a:latin typeface="Open Sauce"/>
                <a:ea typeface="Open Sauce"/>
                <a:cs typeface="Open Sauce"/>
                <a:sym typeface="Open Sauce"/>
              </a:rPr>
              <a:t>Triggers an immediate buzzer alert to prevent potential accidents.</a:t>
            </a:r>
          </a:p>
          <a:p>
            <a:pPr algn="l">
              <a:lnSpc>
                <a:spcPts val="3661"/>
              </a:lnSpc>
              <a:spcBef>
                <a:spcPct val="0"/>
              </a:spcBef>
            </a:pPr>
          </a:p>
          <a:p>
            <a:pPr algn="l" marL="0" indent="0" lvl="0">
              <a:lnSpc>
                <a:spcPts val="2529"/>
              </a:lnSpc>
              <a:spcBef>
                <a:spcPct val="0"/>
              </a:spcBef>
            </a:pPr>
          </a:p>
        </p:txBody>
      </p:sp>
      <p:sp>
        <p:nvSpPr>
          <p:cNvPr name="TextBox 8" id="8"/>
          <p:cNvSpPr txBox="true"/>
          <p:nvPr/>
        </p:nvSpPr>
        <p:spPr>
          <a:xfrm rot="0">
            <a:off x="1187293" y="4650520"/>
            <a:ext cx="10624631" cy="418685"/>
          </a:xfrm>
          <a:prstGeom prst="rect">
            <a:avLst/>
          </a:prstGeom>
        </p:spPr>
        <p:txBody>
          <a:bodyPr anchor="t" rtlCol="false" tIns="0" lIns="0" bIns="0" rIns="0">
            <a:spAutoFit/>
          </a:bodyPr>
          <a:lstStyle/>
          <a:p>
            <a:pPr algn="l" marL="0" indent="0" lvl="0">
              <a:lnSpc>
                <a:spcPts val="3475"/>
              </a:lnSpc>
              <a:spcBef>
                <a:spcPct val="0"/>
              </a:spcBef>
            </a:pPr>
            <a:r>
              <a:rPr lang="en-US" b="true" sz="2518" spc="246">
                <a:solidFill>
                  <a:srgbClr val="1C5739"/>
                </a:solidFill>
                <a:latin typeface="Open Sauce Bold"/>
                <a:ea typeface="Open Sauce Bold"/>
                <a:cs typeface="Open Sauce Bold"/>
                <a:sym typeface="Open Sauce Bold"/>
              </a:rPr>
              <a:t>Proposed Solution</a:t>
            </a:r>
          </a:p>
        </p:txBody>
      </p:sp>
      <p:sp>
        <p:nvSpPr>
          <p:cNvPr name="Freeform 9" id="9"/>
          <p:cNvSpPr/>
          <p:nvPr/>
        </p:nvSpPr>
        <p:spPr>
          <a:xfrm flipH="false" flipV="false" rot="-10800000">
            <a:off x="0" y="0"/>
            <a:ext cx="7170959" cy="2060021"/>
          </a:xfrm>
          <a:custGeom>
            <a:avLst/>
            <a:gdLst/>
            <a:ahLst/>
            <a:cxnLst/>
            <a:rect r="r" b="b" t="t" l="l"/>
            <a:pathLst>
              <a:path h="2060021" w="7170959">
                <a:moveTo>
                  <a:pt x="0" y="0"/>
                </a:moveTo>
                <a:lnTo>
                  <a:pt x="7170959" y="0"/>
                </a:lnTo>
                <a:lnTo>
                  <a:pt x="7170959" y="2060021"/>
                </a:lnTo>
                <a:lnTo>
                  <a:pt x="0" y="20600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sp>
        <p:nvSpPr>
          <p:cNvPr name="Freeform 2" id="2"/>
          <p:cNvSpPr/>
          <p:nvPr/>
        </p:nvSpPr>
        <p:spPr>
          <a:xfrm flipH="false" flipV="false" rot="0">
            <a:off x="452784" y="400976"/>
            <a:ext cx="5147814" cy="9460058"/>
          </a:xfrm>
          <a:custGeom>
            <a:avLst/>
            <a:gdLst/>
            <a:ahLst/>
            <a:cxnLst/>
            <a:rect r="r" b="b" t="t" l="l"/>
            <a:pathLst>
              <a:path h="9460058" w="5147814">
                <a:moveTo>
                  <a:pt x="0" y="0"/>
                </a:moveTo>
                <a:lnTo>
                  <a:pt x="5147814" y="0"/>
                </a:lnTo>
                <a:lnTo>
                  <a:pt x="5147814" y="9460058"/>
                </a:lnTo>
                <a:lnTo>
                  <a:pt x="0" y="9460058"/>
                </a:lnTo>
                <a:lnTo>
                  <a:pt x="0" y="0"/>
                </a:lnTo>
                <a:close/>
              </a:path>
            </a:pathLst>
          </a:custGeom>
          <a:blipFill>
            <a:blip r:embed="rId2"/>
            <a:stretch>
              <a:fillRect l="-88077" t="0" r="-88077" b="0"/>
            </a:stretch>
          </a:blipFill>
        </p:spPr>
      </p:sp>
      <p:sp>
        <p:nvSpPr>
          <p:cNvPr name="Freeform 3" id="3"/>
          <p:cNvSpPr/>
          <p:nvPr/>
        </p:nvSpPr>
        <p:spPr>
          <a:xfrm flipH="false" flipV="false" rot="0">
            <a:off x="16384715" y="9009597"/>
            <a:ext cx="3806571" cy="2083232"/>
          </a:xfrm>
          <a:custGeom>
            <a:avLst/>
            <a:gdLst/>
            <a:ahLst/>
            <a:cxnLst/>
            <a:rect r="r" b="b" t="t" l="l"/>
            <a:pathLst>
              <a:path h="2083232" w="3806571">
                <a:moveTo>
                  <a:pt x="0" y="0"/>
                </a:moveTo>
                <a:lnTo>
                  <a:pt x="3806570" y="0"/>
                </a:lnTo>
                <a:lnTo>
                  <a:pt x="3806570" y="2083232"/>
                </a:lnTo>
                <a:lnTo>
                  <a:pt x="0" y="20832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882076" y="-20574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5909013" y="458126"/>
            <a:ext cx="11350287" cy="1741604"/>
          </a:xfrm>
          <a:prstGeom prst="rect">
            <a:avLst/>
          </a:prstGeom>
        </p:spPr>
        <p:txBody>
          <a:bodyPr anchor="t" rtlCol="false" tIns="0" lIns="0" bIns="0" rIns="0">
            <a:spAutoFit/>
          </a:bodyPr>
          <a:lstStyle/>
          <a:p>
            <a:pPr algn="l">
              <a:lnSpc>
                <a:spcPts val="6405"/>
              </a:lnSpc>
            </a:pPr>
            <a:r>
              <a:rPr lang="en-US" sz="6470" spc="226">
                <a:solidFill>
                  <a:srgbClr val="040506"/>
                </a:solidFill>
                <a:latin typeface="Poppins"/>
                <a:ea typeface="Poppins"/>
                <a:cs typeface="Poppins"/>
                <a:sym typeface="Poppins"/>
              </a:rPr>
              <a:t>Intelligent Driver Support System</a:t>
            </a:r>
          </a:p>
        </p:txBody>
      </p:sp>
      <p:sp>
        <p:nvSpPr>
          <p:cNvPr name="TextBox 6" id="6"/>
          <p:cNvSpPr txBox="true"/>
          <p:nvPr/>
        </p:nvSpPr>
        <p:spPr>
          <a:xfrm rot="0">
            <a:off x="5909013" y="2319049"/>
            <a:ext cx="8021172" cy="394082"/>
          </a:xfrm>
          <a:prstGeom prst="rect">
            <a:avLst/>
          </a:prstGeom>
        </p:spPr>
        <p:txBody>
          <a:bodyPr anchor="t" rtlCol="false" tIns="0" lIns="0" bIns="0" rIns="0">
            <a:spAutoFit/>
          </a:bodyPr>
          <a:lstStyle/>
          <a:p>
            <a:pPr algn="l">
              <a:lnSpc>
                <a:spcPts val="3235"/>
              </a:lnSpc>
            </a:pPr>
            <a:r>
              <a:rPr lang="en-US" b="true" sz="2344" spc="229">
                <a:solidFill>
                  <a:srgbClr val="1C5739"/>
                </a:solidFill>
                <a:latin typeface="Open Sauce Bold"/>
                <a:ea typeface="Open Sauce Bold"/>
                <a:cs typeface="Open Sauce Bold"/>
                <a:sym typeface="Open Sauce Bold"/>
              </a:rPr>
              <a:t>User Requirements</a:t>
            </a:r>
          </a:p>
        </p:txBody>
      </p:sp>
      <p:sp>
        <p:nvSpPr>
          <p:cNvPr name="TextBox 7" id="7"/>
          <p:cNvSpPr txBox="true"/>
          <p:nvPr/>
        </p:nvSpPr>
        <p:spPr>
          <a:xfrm rot="0">
            <a:off x="6044073" y="2904012"/>
            <a:ext cx="12378987" cy="1904366"/>
          </a:xfrm>
          <a:prstGeom prst="rect">
            <a:avLst/>
          </a:prstGeom>
        </p:spPr>
        <p:txBody>
          <a:bodyPr anchor="t" rtlCol="false" tIns="0" lIns="0" bIns="0" rIns="0">
            <a:spAutoFit/>
          </a:bodyPr>
          <a:lstStyle/>
          <a:p>
            <a:pPr algn="l" marL="419795" indent="-209898" lvl="1">
              <a:lnSpc>
                <a:spcPts val="2683"/>
              </a:lnSpc>
              <a:buFont typeface="Arial"/>
              <a:buChar char="•"/>
            </a:pPr>
            <a:r>
              <a:rPr lang="en-US" sz="1944" spc="190">
                <a:solidFill>
                  <a:srgbClr val="231F20"/>
                </a:solidFill>
                <a:latin typeface="Open Sauce"/>
                <a:ea typeface="Open Sauce"/>
                <a:cs typeface="Open Sauce"/>
                <a:sym typeface="Open Sauce"/>
              </a:rPr>
              <a:t>Continuous real-time monitoring of driver alertness.</a:t>
            </a:r>
          </a:p>
          <a:p>
            <a:pPr algn="l" marL="419795" indent="-209898" lvl="1">
              <a:lnSpc>
                <a:spcPts val="2683"/>
              </a:lnSpc>
              <a:buFont typeface="Arial"/>
              <a:buChar char="•"/>
            </a:pPr>
            <a:r>
              <a:rPr lang="en-US" sz="1944" spc="190">
                <a:solidFill>
                  <a:srgbClr val="231F20"/>
                </a:solidFill>
                <a:latin typeface="Open Sauce"/>
                <a:ea typeface="Open Sauce"/>
                <a:cs typeface="Open Sauce"/>
                <a:sym typeface="Open Sauce"/>
              </a:rPr>
              <a:t>High</a:t>
            </a:r>
            <a:r>
              <a:rPr lang="en-US" sz="1944" spc="190">
                <a:solidFill>
                  <a:srgbClr val="231F20"/>
                </a:solidFill>
                <a:latin typeface="Open Sauce"/>
                <a:ea typeface="Open Sauce"/>
                <a:cs typeface="Open Sauce"/>
                <a:sym typeface="Open Sauce"/>
              </a:rPr>
              <a:t> accuracy with reduced false detections.</a:t>
            </a:r>
          </a:p>
          <a:p>
            <a:pPr algn="l" marL="419795" indent="-209898" lvl="1">
              <a:lnSpc>
                <a:spcPts val="2683"/>
              </a:lnSpc>
              <a:buFont typeface="Arial"/>
              <a:buChar char="•"/>
            </a:pPr>
            <a:r>
              <a:rPr lang="en-US" sz="1944" spc="190">
                <a:solidFill>
                  <a:srgbClr val="231F20"/>
                </a:solidFill>
                <a:latin typeface="Open Sauce"/>
                <a:ea typeface="Open Sauce"/>
                <a:cs typeface="Open Sauce"/>
                <a:sym typeface="Open Sauce"/>
              </a:rPr>
              <a:t>Offline operation without internet dependency.</a:t>
            </a:r>
          </a:p>
          <a:p>
            <a:pPr algn="l" marL="419795" indent="-209898" lvl="1">
              <a:lnSpc>
                <a:spcPts val="2683"/>
              </a:lnSpc>
              <a:buFont typeface="Arial"/>
              <a:buChar char="•"/>
            </a:pPr>
            <a:r>
              <a:rPr lang="en-US" sz="1944" spc="190">
                <a:solidFill>
                  <a:srgbClr val="231F20"/>
                </a:solidFill>
                <a:latin typeface="Open Sauce"/>
                <a:ea typeface="Open Sauce"/>
                <a:cs typeface="Open Sauce"/>
                <a:sym typeface="Open Sauce"/>
              </a:rPr>
              <a:t>Fast hardware-level alerts for immediate driver response.</a:t>
            </a:r>
          </a:p>
          <a:p>
            <a:pPr algn="l" marL="419795" indent="-209898" lvl="1">
              <a:lnSpc>
                <a:spcPts val="2683"/>
              </a:lnSpc>
              <a:buFont typeface="Arial"/>
              <a:buChar char="•"/>
            </a:pPr>
            <a:r>
              <a:rPr lang="en-US" sz="1944" spc="190">
                <a:solidFill>
                  <a:srgbClr val="231F20"/>
                </a:solidFill>
                <a:latin typeface="Open Sauce"/>
                <a:ea typeface="Open Sauce"/>
                <a:cs typeface="Open Sauce"/>
                <a:sym typeface="Open Sauce"/>
              </a:rPr>
              <a:t>Easy to understand and operate during real-world usage.</a:t>
            </a:r>
          </a:p>
          <a:p>
            <a:pPr algn="l">
              <a:lnSpc>
                <a:spcPts val="1993"/>
              </a:lnSpc>
            </a:pPr>
          </a:p>
        </p:txBody>
      </p:sp>
      <p:sp>
        <p:nvSpPr>
          <p:cNvPr name="TextBox 8" id="8"/>
          <p:cNvSpPr txBox="true"/>
          <p:nvPr/>
        </p:nvSpPr>
        <p:spPr>
          <a:xfrm rot="0">
            <a:off x="5909013" y="4779803"/>
            <a:ext cx="7008221" cy="367793"/>
          </a:xfrm>
          <a:prstGeom prst="rect">
            <a:avLst/>
          </a:prstGeom>
        </p:spPr>
        <p:txBody>
          <a:bodyPr anchor="t" rtlCol="false" tIns="0" lIns="0" bIns="0" rIns="0">
            <a:spAutoFit/>
          </a:bodyPr>
          <a:lstStyle/>
          <a:p>
            <a:pPr algn="l">
              <a:lnSpc>
                <a:spcPts val="3097"/>
              </a:lnSpc>
            </a:pPr>
            <a:r>
              <a:rPr lang="en-US" b="true" sz="2244" spc="219">
                <a:solidFill>
                  <a:srgbClr val="1C5739"/>
                </a:solidFill>
                <a:latin typeface="Open Sauce Bold"/>
                <a:ea typeface="Open Sauce Bold"/>
                <a:cs typeface="Open Sauce Bold"/>
                <a:sym typeface="Open Sauce Bold"/>
              </a:rPr>
              <a:t>Contribution</a:t>
            </a:r>
          </a:p>
        </p:txBody>
      </p:sp>
      <p:sp>
        <p:nvSpPr>
          <p:cNvPr name="TextBox 9" id="9"/>
          <p:cNvSpPr txBox="true"/>
          <p:nvPr/>
        </p:nvSpPr>
        <p:spPr>
          <a:xfrm rot="0">
            <a:off x="6044073" y="5240655"/>
            <a:ext cx="11935512" cy="4607180"/>
          </a:xfrm>
          <a:prstGeom prst="rect">
            <a:avLst/>
          </a:prstGeom>
        </p:spPr>
        <p:txBody>
          <a:bodyPr anchor="t" rtlCol="false" tIns="0" lIns="0" bIns="0" rIns="0">
            <a:spAutoFit/>
          </a:bodyPr>
          <a:lstStyle/>
          <a:p>
            <a:pPr algn="l" marL="419795" indent="-209898" lvl="1">
              <a:lnSpc>
                <a:spcPts val="2683"/>
              </a:lnSpc>
              <a:buFont typeface="Arial"/>
              <a:buChar char="•"/>
            </a:pPr>
            <a:r>
              <a:rPr lang="en-US" sz="1944" spc="190">
                <a:solidFill>
                  <a:srgbClr val="231F20"/>
                </a:solidFill>
                <a:latin typeface="Open Sauce"/>
                <a:ea typeface="Open Sauce"/>
                <a:cs typeface="Open Sauce"/>
                <a:sym typeface="Open Sauce"/>
              </a:rPr>
              <a:t>Designed a multi-modal detection approach using a camera, MPU9250, and pulse sensor.</a:t>
            </a:r>
          </a:p>
          <a:p>
            <a:pPr algn="l">
              <a:lnSpc>
                <a:spcPts val="2683"/>
              </a:lnSpc>
            </a:pPr>
          </a:p>
          <a:p>
            <a:pPr algn="l" marL="419795" indent="-209898" lvl="1">
              <a:lnSpc>
                <a:spcPts val="2683"/>
              </a:lnSpc>
              <a:buFont typeface="Arial"/>
              <a:buChar char="•"/>
            </a:pPr>
            <a:r>
              <a:rPr lang="en-US" sz="1944" spc="190">
                <a:solidFill>
                  <a:srgbClr val="231F20"/>
                </a:solidFill>
                <a:latin typeface="Open Sauce"/>
                <a:ea typeface="Open Sauce"/>
                <a:cs typeface="Open Sauce"/>
                <a:sym typeface="Open Sauce"/>
              </a:rPr>
              <a:t>Implemented an </a:t>
            </a:r>
            <a:r>
              <a:rPr lang="en-US" sz="1944" spc="190">
                <a:solidFill>
                  <a:srgbClr val="231F20"/>
                </a:solidFill>
                <a:latin typeface="Open Sauce"/>
                <a:ea typeface="Open Sauce"/>
                <a:cs typeface="Open Sauce"/>
                <a:sym typeface="Open Sauce"/>
              </a:rPr>
              <a:t>MLP model for facial-feature-based drowsiness detection using MediaPipe and OpenCV.</a:t>
            </a:r>
          </a:p>
          <a:p>
            <a:pPr algn="l">
              <a:lnSpc>
                <a:spcPts val="2683"/>
              </a:lnSpc>
            </a:pPr>
          </a:p>
          <a:p>
            <a:pPr algn="l" marL="419795" indent="-209898" lvl="1">
              <a:lnSpc>
                <a:spcPts val="2683"/>
              </a:lnSpc>
              <a:buFont typeface="Arial"/>
              <a:buChar char="•"/>
            </a:pPr>
            <a:r>
              <a:rPr lang="en-US" sz="1944" spc="190">
                <a:solidFill>
                  <a:srgbClr val="231F20"/>
                </a:solidFill>
                <a:latin typeface="Open Sauce"/>
                <a:ea typeface="Open Sauce"/>
                <a:cs typeface="Open Sauce"/>
                <a:sym typeface="Open Sauce"/>
              </a:rPr>
              <a:t>Implemented a Random Forest model for sensor-based fatigue classification.</a:t>
            </a:r>
          </a:p>
          <a:p>
            <a:pPr algn="l">
              <a:lnSpc>
                <a:spcPts val="2683"/>
              </a:lnSpc>
            </a:pPr>
          </a:p>
          <a:p>
            <a:pPr algn="l" marL="419795" indent="-209898" lvl="1">
              <a:lnSpc>
                <a:spcPts val="2683"/>
              </a:lnSpc>
              <a:buFont typeface="Arial"/>
              <a:buChar char="•"/>
            </a:pPr>
            <a:r>
              <a:rPr lang="en-US" sz="1944" spc="190">
                <a:solidFill>
                  <a:srgbClr val="231F20"/>
                </a:solidFill>
                <a:latin typeface="Open Sauce"/>
                <a:ea typeface="Open Sauce"/>
                <a:cs typeface="Open Sauce"/>
                <a:sym typeface="Open Sauce"/>
              </a:rPr>
              <a:t>Developed Arduino firmware for real-time sensor data acquisition and alert control.</a:t>
            </a:r>
          </a:p>
          <a:p>
            <a:pPr algn="l">
              <a:lnSpc>
                <a:spcPts val="2683"/>
              </a:lnSpc>
            </a:pPr>
          </a:p>
          <a:p>
            <a:pPr algn="l" marL="419795" indent="-209898" lvl="1">
              <a:lnSpc>
                <a:spcPts val="2683"/>
              </a:lnSpc>
              <a:buFont typeface="Arial"/>
              <a:buChar char="•"/>
            </a:pPr>
            <a:r>
              <a:rPr lang="en-US" sz="1944" spc="190">
                <a:solidFill>
                  <a:srgbClr val="231F20"/>
                </a:solidFill>
                <a:latin typeface="Open Sauce"/>
                <a:ea typeface="Open Sauce"/>
                <a:cs typeface="Open Sauce"/>
                <a:sym typeface="Open Sauce"/>
              </a:rPr>
              <a:t>Integrated Python–Arduino serial communication for live machine learning predictions.</a:t>
            </a:r>
          </a:p>
          <a:p>
            <a:pPr algn="l">
              <a:lnSpc>
                <a:spcPts val="2269"/>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633448" y="374453"/>
            <a:ext cx="17021103" cy="2177262"/>
            <a:chOff x="0" y="0"/>
            <a:chExt cx="4482924" cy="573435"/>
          </a:xfrm>
        </p:grpSpPr>
        <p:sp>
          <p:nvSpPr>
            <p:cNvPr name="Freeform 4" id="4"/>
            <p:cNvSpPr/>
            <p:nvPr/>
          </p:nvSpPr>
          <p:spPr>
            <a:xfrm flipH="false" flipV="false" rot="0">
              <a:off x="0" y="0"/>
              <a:ext cx="4482924" cy="573435"/>
            </a:xfrm>
            <a:custGeom>
              <a:avLst/>
              <a:gdLst/>
              <a:ahLst/>
              <a:cxnLst/>
              <a:rect r="r" b="b" t="t" l="l"/>
              <a:pathLst>
                <a:path h="573435" w="4482924">
                  <a:moveTo>
                    <a:pt x="0" y="0"/>
                  </a:moveTo>
                  <a:lnTo>
                    <a:pt x="4482924" y="0"/>
                  </a:lnTo>
                  <a:lnTo>
                    <a:pt x="4482924" y="573435"/>
                  </a:lnTo>
                  <a:lnTo>
                    <a:pt x="0" y="573435"/>
                  </a:lnTo>
                  <a:close/>
                </a:path>
              </a:pathLst>
            </a:custGeom>
            <a:solidFill>
              <a:srgbClr val="1C5739"/>
            </a:solidFill>
          </p:spPr>
        </p:sp>
        <p:sp>
          <p:nvSpPr>
            <p:cNvPr name="TextBox 5" id="5"/>
            <p:cNvSpPr txBox="true"/>
            <p:nvPr/>
          </p:nvSpPr>
          <p:spPr>
            <a:xfrm>
              <a:off x="0" y="-19050"/>
              <a:ext cx="4482924" cy="592485"/>
            </a:xfrm>
            <a:prstGeom prst="rect">
              <a:avLst/>
            </a:prstGeom>
          </p:spPr>
          <p:txBody>
            <a:bodyPr anchor="ctr" rtlCol="false" tIns="50800" lIns="50800" bIns="50800" rIns="50800"/>
            <a:lstStyle/>
            <a:p>
              <a:pPr algn="ctr">
                <a:lnSpc>
                  <a:spcPts val="2859"/>
                </a:lnSpc>
              </a:pPr>
            </a:p>
            <a:p>
              <a:pPr algn="ctr">
                <a:lnSpc>
                  <a:spcPts val="2859"/>
                </a:lnSpc>
              </a:pPr>
            </a:p>
          </p:txBody>
        </p:sp>
      </p:grpSp>
      <p:sp>
        <p:nvSpPr>
          <p:cNvPr name="Freeform 6" id="6"/>
          <p:cNvSpPr/>
          <p:nvPr/>
        </p:nvSpPr>
        <p:spPr>
          <a:xfrm flipH="false" flipV="false" rot="0">
            <a:off x="667020" y="395051"/>
            <a:ext cx="16933642" cy="2156664"/>
          </a:xfrm>
          <a:custGeom>
            <a:avLst/>
            <a:gdLst/>
            <a:ahLst/>
            <a:cxnLst/>
            <a:rect r="r" b="b" t="t" l="l"/>
            <a:pathLst>
              <a:path h="2156664" w="16933642">
                <a:moveTo>
                  <a:pt x="0" y="0"/>
                </a:moveTo>
                <a:lnTo>
                  <a:pt x="16933643" y="0"/>
                </a:lnTo>
                <a:lnTo>
                  <a:pt x="16933643" y="2156664"/>
                </a:lnTo>
                <a:lnTo>
                  <a:pt x="0" y="2156664"/>
                </a:lnTo>
                <a:lnTo>
                  <a:pt x="0" y="0"/>
                </a:lnTo>
                <a:close/>
              </a:path>
            </a:pathLst>
          </a:custGeom>
          <a:blipFill>
            <a:blip r:embed="rId3">
              <a:alphaModFix amt="18000"/>
            </a:blip>
            <a:stretch>
              <a:fillRect l="0" t="-170158" r="0" b="-253293"/>
            </a:stretch>
          </a:blipFill>
        </p:spPr>
      </p:sp>
      <p:grpSp>
        <p:nvGrpSpPr>
          <p:cNvPr name="Group 7" id="7"/>
          <p:cNvGrpSpPr/>
          <p:nvPr/>
        </p:nvGrpSpPr>
        <p:grpSpPr>
          <a:xfrm rot="0">
            <a:off x="6438697" y="3181237"/>
            <a:ext cx="47625" cy="4637272"/>
            <a:chOff x="0" y="0"/>
            <a:chExt cx="12543" cy="1221339"/>
          </a:xfrm>
        </p:grpSpPr>
        <p:sp>
          <p:nvSpPr>
            <p:cNvPr name="Freeform 8" id="8"/>
            <p:cNvSpPr/>
            <p:nvPr/>
          </p:nvSpPr>
          <p:spPr>
            <a:xfrm flipH="false" flipV="false" rot="0">
              <a:off x="0" y="0"/>
              <a:ext cx="12543" cy="1221339"/>
            </a:xfrm>
            <a:custGeom>
              <a:avLst/>
              <a:gdLst/>
              <a:ahLst/>
              <a:cxnLst/>
              <a:rect r="r" b="b" t="t" l="l"/>
              <a:pathLst>
                <a:path h="1221339" w="12543">
                  <a:moveTo>
                    <a:pt x="0" y="0"/>
                  </a:moveTo>
                  <a:lnTo>
                    <a:pt x="12543" y="0"/>
                  </a:lnTo>
                  <a:lnTo>
                    <a:pt x="12543" y="1221339"/>
                  </a:lnTo>
                  <a:lnTo>
                    <a:pt x="0" y="1221339"/>
                  </a:lnTo>
                  <a:close/>
                </a:path>
              </a:pathLst>
            </a:custGeom>
            <a:solidFill>
              <a:srgbClr val="009245"/>
            </a:solidFill>
          </p:spPr>
        </p:sp>
        <p:sp>
          <p:nvSpPr>
            <p:cNvPr name="TextBox 9" id="9"/>
            <p:cNvSpPr txBox="true"/>
            <p:nvPr/>
          </p:nvSpPr>
          <p:spPr>
            <a:xfrm>
              <a:off x="0" y="-19050"/>
              <a:ext cx="12543" cy="1240389"/>
            </a:xfrm>
            <a:prstGeom prst="rect">
              <a:avLst/>
            </a:prstGeom>
          </p:spPr>
          <p:txBody>
            <a:bodyPr anchor="ctr" rtlCol="false" tIns="50800" lIns="50800" bIns="50800" rIns="50800"/>
            <a:lstStyle/>
            <a:p>
              <a:pPr algn="ctr">
                <a:lnSpc>
                  <a:spcPts val="2859"/>
                </a:lnSpc>
              </a:pPr>
            </a:p>
          </p:txBody>
        </p:sp>
      </p:grpSp>
      <p:sp>
        <p:nvSpPr>
          <p:cNvPr name="TextBox 10" id="10"/>
          <p:cNvSpPr txBox="true"/>
          <p:nvPr/>
        </p:nvSpPr>
        <p:spPr>
          <a:xfrm rot="0">
            <a:off x="1851186" y="585901"/>
            <a:ext cx="14565312" cy="1341076"/>
          </a:xfrm>
          <a:prstGeom prst="rect">
            <a:avLst/>
          </a:prstGeom>
        </p:spPr>
        <p:txBody>
          <a:bodyPr anchor="t" rtlCol="false" tIns="0" lIns="0" bIns="0" rIns="0">
            <a:spAutoFit/>
          </a:bodyPr>
          <a:lstStyle/>
          <a:p>
            <a:pPr algn="ctr" marL="0" indent="0" lvl="0">
              <a:lnSpc>
                <a:spcPts val="5292"/>
              </a:lnSpc>
              <a:spcBef>
                <a:spcPct val="0"/>
              </a:spcBef>
            </a:pPr>
            <a:r>
              <a:rPr lang="en-US" sz="3835" spc="375">
                <a:solidFill>
                  <a:srgbClr val="FFFFFF"/>
                </a:solidFill>
                <a:latin typeface="Poppins"/>
                <a:ea typeface="Poppins"/>
                <a:cs typeface="Poppins"/>
                <a:sym typeface="Poppins"/>
              </a:rPr>
              <a:t>AI POWERED TRAIN SAFETY SYSTEM WITH REAL-TIME CROWD AND OBSTACLE DETECTION</a:t>
            </a:r>
          </a:p>
        </p:txBody>
      </p:sp>
      <p:grpSp>
        <p:nvGrpSpPr>
          <p:cNvPr name="Group 11" id="11"/>
          <p:cNvGrpSpPr/>
          <p:nvPr/>
        </p:nvGrpSpPr>
        <p:grpSpPr>
          <a:xfrm rot="0">
            <a:off x="11553952" y="3097842"/>
            <a:ext cx="47625" cy="4637272"/>
            <a:chOff x="0" y="0"/>
            <a:chExt cx="12543" cy="1221339"/>
          </a:xfrm>
        </p:grpSpPr>
        <p:sp>
          <p:nvSpPr>
            <p:cNvPr name="Freeform 12" id="12"/>
            <p:cNvSpPr/>
            <p:nvPr/>
          </p:nvSpPr>
          <p:spPr>
            <a:xfrm flipH="false" flipV="false" rot="0">
              <a:off x="0" y="0"/>
              <a:ext cx="12543" cy="1221339"/>
            </a:xfrm>
            <a:custGeom>
              <a:avLst/>
              <a:gdLst/>
              <a:ahLst/>
              <a:cxnLst/>
              <a:rect r="r" b="b" t="t" l="l"/>
              <a:pathLst>
                <a:path h="1221339" w="12543">
                  <a:moveTo>
                    <a:pt x="0" y="0"/>
                  </a:moveTo>
                  <a:lnTo>
                    <a:pt x="12543" y="0"/>
                  </a:lnTo>
                  <a:lnTo>
                    <a:pt x="12543" y="1221339"/>
                  </a:lnTo>
                  <a:lnTo>
                    <a:pt x="0" y="1221339"/>
                  </a:lnTo>
                  <a:close/>
                </a:path>
              </a:pathLst>
            </a:custGeom>
            <a:solidFill>
              <a:srgbClr val="009245"/>
            </a:solidFill>
          </p:spPr>
        </p:sp>
        <p:sp>
          <p:nvSpPr>
            <p:cNvPr name="TextBox 13" id="13"/>
            <p:cNvSpPr txBox="true"/>
            <p:nvPr/>
          </p:nvSpPr>
          <p:spPr>
            <a:xfrm>
              <a:off x="0" y="-19050"/>
              <a:ext cx="12543" cy="1240389"/>
            </a:xfrm>
            <a:prstGeom prst="rect">
              <a:avLst/>
            </a:prstGeom>
          </p:spPr>
          <p:txBody>
            <a:bodyPr anchor="ctr" rtlCol="false" tIns="50800" lIns="50800" bIns="50800" rIns="50800"/>
            <a:lstStyle/>
            <a:p>
              <a:pPr algn="ctr">
                <a:lnSpc>
                  <a:spcPts val="2859"/>
                </a:lnSpc>
              </a:pPr>
            </a:p>
          </p:txBody>
        </p:sp>
      </p:grpSp>
      <p:sp>
        <p:nvSpPr>
          <p:cNvPr name="TextBox 14" id="14"/>
          <p:cNvSpPr txBox="true"/>
          <p:nvPr/>
        </p:nvSpPr>
        <p:spPr>
          <a:xfrm rot="0">
            <a:off x="7316228" y="3143137"/>
            <a:ext cx="3655544" cy="390855"/>
          </a:xfrm>
          <a:prstGeom prst="rect">
            <a:avLst/>
          </a:prstGeom>
        </p:spPr>
        <p:txBody>
          <a:bodyPr anchor="t" rtlCol="false" tIns="0" lIns="0" bIns="0" rIns="0">
            <a:spAutoFit/>
          </a:bodyPr>
          <a:lstStyle/>
          <a:p>
            <a:pPr algn="ctr">
              <a:lnSpc>
                <a:spcPts val="3231"/>
              </a:lnSpc>
            </a:pPr>
            <a:r>
              <a:rPr lang="en-US" b="true" sz="2341" spc="229">
                <a:solidFill>
                  <a:srgbClr val="231F20"/>
                </a:solidFill>
                <a:latin typeface="Open Sauce Bold"/>
                <a:ea typeface="Open Sauce Bold"/>
                <a:cs typeface="Open Sauce Bold"/>
                <a:sym typeface="Open Sauce Bold"/>
              </a:rPr>
              <a:t>Customer Persona</a:t>
            </a:r>
          </a:p>
        </p:txBody>
      </p:sp>
      <p:sp>
        <p:nvSpPr>
          <p:cNvPr name="TextBox 15" id="15"/>
          <p:cNvSpPr txBox="true"/>
          <p:nvPr/>
        </p:nvSpPr>
        <p:spPr>
          <a:xfrm rot="0">
            <a:off x="1547019" y="3107367"/>
            <a:ext cx="3362913" cy="390855"/>
          </a:xfrm>
          <a:prstGeom prst="rect">
            <a:avLst/>
          </a:prstGeom>
        </p:spPr>
        <p:txBody>
          <a:bodyPr anchor="t" rtlCol="false" tIns="0" lIns="0" bIns="0" rIns="0">
            <a:spAutoFit/>
          </a:bodyPr>
          <a:lstStyle/>
          <a:p>
            <a:pPr algn="ctr">
              <a:lnSpc>
                <a:spcPts val="3231"/>
              </a:lnSpc>
            </a:pPr>
            <a:r>
              <a:rPr lang="en-US" b="true" sz="2341" spc="229">
                <a:solidFill>
                  <a:srgbClr val="231F20"/>
                </a:solidFill>
                <a:latin typeface="Open Sauce Bold"/>
                <a:ea typeface="Open Sauce Bold"/>
                <a:cs typeface="Open Sauce Bold"/>
                <a:sym typeface="Open Sauce Bold"/>
              </a:rPr>
              <a:t>Commercialization </a:t>
            </a:r>
          </a:p>
        </p:txBody>
      </p:sp>
      <p:sp>
        <p:nvSpPr>
          <p:cNvPr name="TextBox 16" id="16"/>
          <p:cNvSpPr txBox="true"/>
          <p:nvPr/>
        </p:nvSpPr>
        <p:spPr>
          <a:xfrm rot="0">
            <a:off x="12916675" y="3143137"/>
            <a:ext cx="2732632" cy="390855"/>
          </a:xfrm>
          <a:prstGeom prst="rect">
            <a:avLst/>
          </a:prstGeom>
        </p:spPr>
        <p:txBody>
          <a:bodyPr anchor="t" rtlCol="false" tIns="0" lIns="0" bIns="0" rIns="0">
            <a:spAutoFit/>
          </a:bodyPr>
          <a:lstStyle/>
          <a:p>
            <a:pPr algn="ctr">
              <a:lnSpc>
                <a:spcPts val="3231"/>
              </a:lnSpc>
            </a:pPr>
            <a:r>
              <a:rPr lang="en-US" b="true" sz="2341" spc="229">
                <a:solidFill>
                  <a:srgbClr val="231F20"/>
                </a:solidFill>
                <a:latin typeface="Open Sauce Bold"/>
                <a:ea typeface="Open Sauce Bold"/>
                <a:cs typeface="Open Sauce Bold"/>
                <a:sym typeface="Open Sauce Bold"/>
              </a:rPr>
              <a:t>Market Size</a:t>
            </a:r>
          </a:p>
        </p:txBody>
      </p:sp>
      <p:sp>
        <p:nvSpPr>
          <p:cNvPr name="TextBox 17" id="17"/>
          <p:cNvSpPr txBox="true"/>
          <p:nvPr/>
        </p:nvSpPr>
        <p:spPr>
          <a:xfrm rot="0">
            <a:off x="1028700" y="4060197"/>
            <a:ext cx="4986319" cy="3443987"/>
          </a:xfrm>
          <a:prstGeom prst="rect">
            <a:avLst/>
          </a:prstGeom>
        </p:spPr>
        <p:txBody>
          <a:bodyPr anchor="t" rtlCol="false" tIns="0" lIns="0" bIns="0" rIns="0">
            <a:spAutoFit/>
          </a:bodyPr>
          <a:lstStyle/>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Deployable as an add-on intelligent safety system for existing railway infrastructure</a:t>
            </a:r>
          </a:p>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Uses CCTV, reducing installation and maintenance cost</a:t>
            </a:r>
          </a:p>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Scalable across stations, compartments, and trains</a:t>
            </a:r>
          </a:p>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Improves safety, punctuality, and passenger experience, ensuring long-term adoption</a:t>
            </a:r>
          </a:p>
          <a:p>
            <a:pPr algn="l">
              <a:lnSpc>
                <a:spcPts val="2545"/>
              </a:lnSpc>
            </a:pPr>
          </a:p>
        </p:txBody>
      </p:sp>
      <p:sp>
        <p:nvSpPr>
          <p:cNvPr name="TextBox 18" id="18"/>
          <p:cNvSpPr txBox="true"/>
          <p:nvPr/>
        </p:nvSpPr>
        <p:spPr>
          <a:xfrm rot="0">
            <a:off x="6733527" y="4060197"/>
            <a:ext cx="4468000" cy="2501012"/>
          </a:xfrm>
          <a:prstGeom prst="rect">
            <a:avLst/>
          </a:prstGeom>
        </p:spPr>
        <p:txBody>
          <a:bodyPr anchor="t" rtlCol="false" tIns="0" lIns="0" bIns="0" rIns="0">
            <a:spAutoFit/>
          </a:bodyPr>
          <a:lstStyle/>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Railway authorities &amp; transport ministries</a:t>
            </a:r>
          </a:p>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Train operating companies</a:t>
            </a:r>
          </a:p>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Station operators and control centers</a:t>
            </a:r>
          </a:p>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Urban metro and suburban rail systems</a:t>
            </a:r>
          </a:p>
          <a:p>
            <a:pPr algn="l">
              <a:lnSpc>
                <a:spcPts val="2545"/>
              </a:lnSpc>
            </a:pPr>
          </a:p>
        </p:txBody>
      </p:sp>
      <p:sp>
        <p:nvSpPr>
          <p:cNvPr name="TextBox 19" id="19"/>
          <p:cNvSpPr txBox="true"/>
          <p:nvPr/>
        </p:nvSpPr>
        <p:spPr>
          <a:xfrm rot="0">
            <a:off x="11954002" y="4060197"/>
            <a:ext cx="5439417" cy="2501012"/>
          </a:xfrm>
          <a:prstGeom prst="rect">
            <a:avLst/>
          </a:prstGeom>
        </p:spPr>
        <p:txBody>
          <a:bodyPr anchor="t" rtlCol="false" tIns="0" lIns="0" bIns="0" rIns="0">
            <a:spAutoFit/>
          </a:bodyPr>
          <a:lstStyle/>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Growing global demand for railway safety and smart transportation systems</a:t>
            </a:r>
          </a:p>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High relevance in high-density passenger rail networks</a:t>
            </a:r>
          </a:p>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Strong adoption potential in both developing and developed countries</a:t>
            </a:r>
          </a:p>
          <a:p>
            <a:pPr algn="l">
              <a:lnSpc>
                <a:spcPts val="2545"/>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9551719" cy="5372843"/>
            <a:chOff x="0" y="0"/>
            <a:chExt cx="6089457" cy="3425320"/>
          </a:xfrm>
        </p:grpSpPr>
        <p:sp>
          <p:nvSpPr>
            <p:cNvPr name="Freeform 3" id="3"/>
            <p:cNvSpPr/>
            <p:nvPr/>
          </p:nvSpPr>
          <p:spPr>
            <a:xfrm flipH="false" flipV="false" rot="0">
              <a:off x="0" y="0"/>
              <a:ext cx="6089457" cy="3425320"/>
            </a:xfrm>
            <a:custGeom>
              <a:avLst/>
              <a:gdLst/>
              <a:ahLst/>
              <a:cxnLst/>
              <a:rect r="r" b="b" t="t" l="l"/>
              <a:pathLst>
                <a:path h="3425320" w="6089457">
                  <a:moveTo>
                    <a:pt x="0" y="3425320"/>
                  </a:moveTo>
                  <a:lnTo>
                    <a:pt x="0" y="0"/>
                  </a:lnTo>
                  <a:lnTo>
                    <a:pt x="6089457" y="0"/>
                  </a:lnTo>
                  <a:cubicBezTo>
                    <a:pt x="4059638" y="1141773"/>
                    <a:pt x="2029819" y="2283546"/>
                    <a:pt x="0" y="3425320"/>
                  </a:cubicBezTo>
                  <a:close/>
                </a:path>
              </a:pathLst>
            </a:custGeom>
            <a:solidFill>
              <a:srgbClr val="F9D549"/>
            </a:solidFill>
          </p:spPr>
        </p:sp>
        <p:sp>
          <p:nvSpPr>
            <p:cNvPr name="Freeform 4" id="4"/>
            <p:cNvSpPr/>
            <p:nvPr/>
          </p:nvSpPr>
          <p:spPr>
            <a:xfrm flipH="false" flipV="false" rot="0">
              <a:off x="0" y="0"/>
              <a:ext cx="6089457" cy="3425320"/>
            </a:xfrm>
            <a:custGeom>
              <a:avLst/>
              <a:gdLst/>
              <a:ahLst/>
              <a:cxnLst/>
              <a:rect r="r" b="b" t="t" l="l"/>
              <a:pathLst>
                <a:path h="3425320" w="6089457">
                  <a:moveTo>
                    <a:pt x="0" y="3425320"/>
                  </a:moveTo>
                  <a:lnTo>
                    <a:pt x="0" y="0"/>
                  </a:lnTo>
                  <a:lnTo>
                    <a:pt x="6089457" y="0"/>
                  </a:lnTo>
                  <a:cubicBezTo>
                    <a:pt x="4059638" y="1141773"/>
                    <a:pt x="2029819" y="2283546"/>
                    <a:pt x="0" y="3425320"/>
                  </a:cubicBezTo>
                  <a:close/>
                </a:path>
              </a:pathLst>
            </a:custGeom>
            <a:blipFill>
              <a:blip r:embed="rId2"/>
              <a:stretch>
                <a:fillRect l="0" t="-83416" r="0" b="-83416"/>
              </a:stretch>
            </a:blipFill>
          </p:spPr>
        </p:sp>
      </p:grpSp>
      <p:grpSp>
        <p:nvGrpSpPr>
          <p:cNvPr name="Group 5" id="5"/>
          <p:cNvGrpSpPr/>
          <p:nvPr/>
        </p:nvGrpSpPr>
        <p:grpSpPr>
          <a:xfrm rot="-1660488">
            <a:off x="-4233206" y="5189176"/>
            <a:ext cx="8282376" cy="404757"/>
            <a:chOff x="0" y="0"/>
            <a:chExt cx="2181367" cy="106603"/>
          </a:xfrm>
        </p:grpSpPr>
        <p:sp>
          <p:nvSpPr>
            <p:cNvPr name="Freeform 6" id="6"/>
            <p:cNvSpPr/>
            <p:nvPr/>
          </p:nvSpPr>
          <p:spPr>
            <a:xfrm flipH="false" flipV="false" rot="0">
              <a:off x="0" y="0"/>
              <a:ext cx="2181366" cy="106603"/>
            </a:xfrm>
            <a:custGeom>
              <a:avLst/>
              <a:gdLst/>
              <a:ahLst/>
              <a:cxnLst/>
              <a:rect r="r" b="b" t="t" l="l"/>
              <a:pathLst>
                <a:path h="106603" w="2181366">
                  <a:moveTo>
                    <a:pt x="0" y="0"/>
                  </a:moveTo>
                  <a:lnTo>
                    <a:pt x="2181366" y="0"/>
                  </a:lnTo>
                  <a:lnTo>
                    <a:pt x="2181366" y="106603"/>
                  </a:lnTo>
                  <a:lnTo>
                    <a:pt x="0" y="106603"/>
                  </a:lnTo>
                  <a:close/>
                </a:path>
              </a:pathLst>
            </a:custGeom>
            <a:solidFill>
              <a:srgbClr val="1C5739"/>
            </a:solidFill>
          </p:spPr>
        </p:sp>
        <p:sp>
          <p:nvSpPr>
            <p:cNvPr name="TextBox 7" id="7"/>
            <p:cNvSpPr txBox="true"/>
            <p:nvPr/>
          </p:nvSpPr>
          <p:spPr>
            <a:xfrm>
              <a:off x="0" y="-19050"/>
              <a:ext cx="2181367" cy="125653"/>
            </a:xfrm>
            <a:prstGeom prst="rect">
              <a:avLst/>
            </a:prstGeom>
          </p:spPr>
          <p:txBody>
            <a:bodyPr anchor="ctr" rtlCol="false" tIns="50800" lIns="50800" bIns="50800" rIns="50800"/>
            <a:lstStyle/>
            <a:p>
              <a:pPr algn="ctr">
                <a:lnSpc>
                  <a:spcPts val="2859"/>
                </a:lnSpc>
              </a:pPr>
            </a:p>
          </p:txBody>
        </p:sp>
      </p:grpSp>
      <p:grpSp>
        <p:nvGrpSpPr>
          <p:cNvPr name="Group 8" id="8"/>
          <p:cNvGrpSpPr/>
          <p:nvPr/>
        </p:nvGrpSpPr>
        <p:grpSpPr>
          <a:xfrm rot="-1747322">
            <a:off x="3921959" y="1003562"/>
            <a:ext cx="8282376" cy="111180"/>
            <a:chOff x="0" y="0"/>
            <a:chExt cx="2181367" cy="29282"/>
          </a:xfrm>
        </p:grpSpPr>
        <p:sp>
          <p:nvSpPr>
            <p:cNvPr name="Freeform 9" id="9"/>
            <p:cNvSpPr/>
            <p:nvPr/>
          </p:nvSpPr>
          <p:spPr>
            <a:xfrm flipH="false" flipV="false" rot="0">
              <a:off x="0" y="0"/>
              <a:ext cx="2181366" cy="29282"/>
            </a:xfrm>
            <a:custGeom>
              <a:avLst/>
              <a:gdLst/>
              <a:ahLst/>
              <a:cxnLst/>
              <a:rect r="r" b="b" t="t" l="l"/>
              <a:pathLst>
                <a:path h="29282" w="2181366">
                  <a:moveTo>
                    <a:pt x="0" y="0"/>
                  </a:moveTo>
                  <a:lnTo>
                    <a:pt x="2181366" y="0"/>
                  </a:lnTo>
                  <a:lnTo>
                    <a:pt x="2181366" y="29282"/>
                  </a:lnTo>
                  <a:lnTo>
                    <a:pt x="0" y="29282"/>
                  </a:lnTo>
                  <a:close/>
                </a:path>
              </a:pathLst>
            </a:custGeom>
            <a:solidFill>
              <a:srgbClr val="1C5739"/>
            </a:solidFill>
          </p:spPr>
        </p:sp>
        <p:sp>
          <p:nvSpPr>
            <p:cNvPr name="TextBox 10" id="10"/>
            <p:cNvSpPr txBox="true"/>
            <p:nvPr/>
          </p:nvSpPr>
          <p:spPr>
            <a:xfrm>
              <a:off x="0" y="-19050"/>
              <a:ext cx="2181367" cy="48332"/>
            </a:xfrm>
            <a:prstGeom prst="rect">
              <a:avLst/>
            </a:prstGeom>
          </p:spPr>
          <p:txBody>
            <a:bodyPr anchor="ctr" rtlCol="false" tIns="50800" lIns="50800" bIns="50800" rIns="50800"/>
            <a:lstStyle/>
            <a:p>
              <a:pPr algn="ctr">
                <a:lnSpc>
                  <a:spcPts val="2859"/>
                </a:lnSpc>
              </a:pPr>
            </a:p>
          </p:txBody>
        </p:sp>
      </p:grpSp>
      <p:grpSp>
        <p:nvGrpSpPr>
          <p:cNvPr name="Group 11" id="11"/>
          <p:cNvGrpSpPr/>
          <p:nvPr/>
        </p:nvGrpSpPr>
        <p:grpSpPr>
          <a:xfrm rot="0">
            <a:off x="6837904" y="1896227"/>
            <a:ext cx="10818039" cy="3843779"/>
            <a:chOff x="0" y="0"/>
            <a:chExt cx="4073040" cy="1447200"/>
          </a:xfrm>
        </p:grpSpPr>
        <p:sp>
          <p:nvSpPr>
            <p:cNvPr name="Freeform 12" id="12"/>
            <p:cNvSpPr/>
            <p:nvPr/>
          </p:nvSpPr>
          <p:spPr>
            <a:xfrm flipH="false" flipV="false" rot="0">
              <a:off x="0" y="0"/>
              <a:ext cx="4073017" cy="1447165"/>
            </a:xfrm>
            <a:custGeom>
              <a:avLst/>
              <a:gdLst/>
              <a:ahLst/>
              <a:cxnLst/>
              <a:rect r="r" b="b" t="t" l="l"/>
              <a:pathLst>
                <a:path h="1447165" w="4073017">
                  <a:moveTo>
                    <a:pt x="3349244" y="0"/>
                  </a:moveTo>
                  <a:cubicBezTo>
                    <a:pt x="0" y="0"/>
                    <a:pt x="0" y="0"/>
                    <a:pt x="0" y="0"/>
                  </a:cubicBezTo>
                  <a:cubicBezTo>
                    <a:pt x="0" y="1447165"/>
                    <a:pt x="0" y="1447165"/>
                    <a:pt x="0" y="1447165"/>
                  </a:cubicBezTo>
                  <a:cubicBezTo>
                    <a:pt x="3349244" y="1447165"/>
                    <a:pt x="3349244" y="1447165"/>
                    <a:pt x="3349244" y="1447165"/>
                  </a:cubicBezTo>
                  <a:cubicBezTo>
                    <a:pt x="3747897" y="1447165"/>
                    <a:pt x="4073017" y="1122172"/>
                    <a:pt x="4073017" y="723519"/>
                  </a:cubicBezTo>
                  <a:cubicBezTo>
                    <a:pt x="4073017" y="324866"/>
                    <a:pt x="3747897" y="0"/>
                    <a:pt x="3349244" y="0"/>
                  </a:cubicBezTo>
                  <a:close/>
                </a:path>
              </a:pathLst>
            </a:custGeom>
            <a:solidFill>
              <a:srgbClr val="66BB6A">
                <a:alpha val="28627"/>
              </a:srgbClr>
            </a:solidFill>
          </p:spPr>
        </p:sp>
      </p:grpSp>
      <p:grpSp>
        <p:nvGrpSpPr>
          <p:cNvPr name="Group 13" id="13"/>
          <p:cNvGrpSpPr/>
          <p:nvPr/>
        </p:nvGrpSpPr>
        <p:grpSpPr>
          <a:xfrm rot="0">
            <a:off x="677697" y="6100167"/>
            <a:ext cx="10818039" cy="3843779"/>
            <a:chOff x="0" y="0"/>
            <a:chExt cx="4073040" cy="1447200"/>
          </a:xfrm>
        </p:grpSpPr>
        <p:sp>
          <p:nvSpPr>
            <p:cNvPr name="Freeform 14" id="14"/>
            <p:cNvSpPr/>
            <p:nvPr/>
          </p:nvSpPr>
          <p:spPr>
            <a:xfrm flipH="false" flipV="false" rot="0">
              <a:off x="0" y="0"/>
              <a:ext cx="4073017" cy="1447165"/>
            </a:xfrm>
            <a:custGeom>
              <a:avLst/>
              <a:gdLst/>
              <a:ahLst/>
              <a:cxnLst/>
              <a:rect r="r" b="b" t="t" l="l"/>
              <a:pathLst>
                <a:path h="1447165" w="4073017">
                  <a:moveTo>
                    <a:pt x="3349244" y="0"/>
                  </a:moveTo>
                  <a:cubicBezTo>
                    <a:pt x="0" y="0"/>
                    <a:pt x="0" y="0"/>
                    <a:pt x="0" y="0"/>
                  </a:cubicBezTo>
                  <a:cubicBezTo>
                    <a:pt x="0" y="1447165"/>
                    <a:pt x="0" y="1447165"/>
                    <a:pt x="0" y="1447165"/>
                  </a:cubicBezTo>
                  <a:cubicBezTo>
                    <a:pt x="3349244" y="1447165"/>
                    <a:pt x="3349244" y="1447165"/>
                    <a:pt x="3349244" y="1447165"/>
                  </a:cubicBezTo>
                  <a:cubicBezTo>
                    <a:pt x="3747897" y="1447165"/>
                    <a:pt x="4073017" y="1122172"/>
                    <a:pt x="4073017" y="723519"/>
                  </a:cubicBezTo>
                  <a:cubicBezTo>
                    <a:pt x="4073017" y="324866"/>
                    <a:pt x="3747897" y="0"/>
                    <a:pt x="3349244" y="0"/>
                  </a:cubicBezTo>
                  <a:close/>
                </a:path>
              </a:pathLst>
            </a:custGeom>
            <a:solidFill>
              <a:srgbClr val="66BB6A">
                <a:alpha val="38824"/>
              </a:srgbClr>
            </a:solidFill>
          </p:spPr>
        </p:sp>
      </p:grpSp>
      <p:sp>
        <p:nvSpPr>
          <p:cNvPr name="TextBox 15" id="15"/>
          <p:cNvSpPr txBox="true"/>
          <p:nvPr/>
        </p:nvSpPr>
        <p:spPr>
          <a:xfrm rot="0">
            <a:off x="8701030" y="922029"/>
            <a:ext cx="8954913" cy="612248"/>
          </a:xfrm>
          <a:prstGeom prst="rect">
            <a:avLst/>
          </a:prstGeom>
        </p:spPr>
        <p:txBody>
          <a:bodyPr anchor="t" rtlCol="false" tIns="0" lIns="0" bIns="0" rIns="0">
            <a:spAutoFit/>
          </a:bodyPr>
          <a:lstStyle/>
          <a:p>
            <a:pPr algn="l">
              <a:lnSpc>
                <a:spcPts val="4341"/>
              </a:lnSpc>
            </a:pPr>
            <a:r>
              <a:rPr lang="en-US" sz="4384" spc="153">
                <a:solidFill>
                  <a:srgbClr val="040506"/>
                </a:solidFill>
                <a:latin typeface="Poppins"/>
                <a:ea typeface="Poppins"/>
                <a:cs typeface="Poppins"/>
                <a:sym typeface="Poppins"/>
              </a:rPr>
              <a:t>What is Unique in</a:t>
            </a:r>
            <a:r>
              <a:rPr lang="en-US" sz="4384" spc="153">
                <a:solidFill>
                  <a:srgbClr val="040506"/>
                </a:solidFill>
                <a:latin typeface="Poppins"/>
                <a:ea typeface="Poppins"/>
                <a:cs typeface="Poppins"/>
                <a:sym typeface="Poppins"/>
              </a:rPr>
              <a:t> our Solution</a:t>
            </a:r>
          </a:p>
        </p:txBody>
      </p:sp>
      <p:sp>
        <p:nvSpPr>
          <p:cNvPr name="TextBox 16" id="16"/>
          <p:cNvSpPr txBox="true"/>
          <p:nvPr/>
        </p:nvSpPr>
        <p:spPr>
          <a:xfrm rot="0">
            <a:off x="1028700" y="6903858"/>
            <a:ext cx="9499501" cy="1872362"/>
          </a:xfrm>
          <a:prstGeom prst="rect">
            <a:avLst/>
          </a:prstGeom>
        </p:spPr>
        <p:txBody>
          <a:bodyPr anchor="t" rtlCol="false" tIns="0" lIns="0" bIns="0" rIns="0">
            <a:spAutoFit/>
          </a:bodyPr>
          <a:lstStyle/>
          <a:p>
            <a:pPr algn="l">
              <a:lnSpc>
                <a:spcPts val="2545"/>
              </a:lnSpc>
            </a:pPr>
          </a:p>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System licensing to railway operators</a:t>
            </a:r>
          </a:p>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Deployment and customization contracts</a:t>
            </a:r>
          </a:p>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Maintenance and software update services</a:t>
            </a:r>
          </a:p>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G</a:t>
            </a:r>
            <a:r>
              <a:rPr lang="en-US" sz="1844" spc="180">
                <a:solidFill>
                  <a:srgbClr val="231F20"/>
                </a:solidFill>
                <a:latin typeface="Open Sauce"/>
                <a:ea typeface="Open Sauce"/>
                <a:cs typeface="Open Sauce"/>
                <a:sym typeface="Open Sauce"/>
              </a:rPr>
              <a:t>overnment safety modernization funding and grants</a:t>
            </a:r>
          </a:p>
          <a:p>
            <a:pPr algn="l">
              <a:lnSpc>
                <a:spcPts val="2545"/>
              </a:lnSpc>
            </a:pPr>
          </a:p>
        </p:txBody>
      </p:sp>
      <p:sp>
        <p:nvSpPr>
          <p:cNvPr name="TextBox 17" id="17"/>
          <p:cNvSpPr txBox="true"/>
          <p:nvPr/>
        </p:nvSpPr>
        <p:spPr>
          <a:xfrm rot="0">
            <a:off x="7168952" y="2480563"/>
            <a:ext cx="9589542" cy="2872487"/>
          </a:xfrm>
          <a:prstGeom prst="rect">
            <a:avLst/>
          </a:prstGeom>
        </p:spPr>
        <p:txBody>
          <a:bodyPr anchor="t" rtlCol="false" tIns="0" lIns="0" bIns="0" rIns="0">
            <a:spAutoFit/>
          </a:bodyPr>
          <a:lstStyle/>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Integrated end-to-end intelligent railway system</a:t>
            </a:r>
          </a:p>
          <a:p>
            <a:pPr algn="l">
              <a:lnSpc>
                <a:spcPts val="2959"/>
              </a:lnSpc>
            </a:pPr>
            <a:r>
              <a:rPr lang="en-US" sz="2144" spc="210" b="true">
                <a:solidFill>
                  <a:srgbClr val="231F20"/>
                </a:solidFill>
                <a:latin typeface="Open Sauce Bold"/>
                <a:ea typeface="Open Sauce Bold"/>
                <a:cs typeface="Open Sauce Bold"/>
                <a:sym typeface="Open Sauce Bold"/>
              </a:rPr>
              <a:t>Combines</a:t>
            </a:r>
            <a:r>
              <a:rPr lang="en-US" sz="2144" spc="210">
                <a:solidFill>
                  <a:srgbClr val="231F20"/>
                </a:solidFill>
                <a:latin typeface="Open Sauce"/>
                <a:ea typeface="Open Sauce"/>
                <a:cs typeface="Open Sauce"/>
                <a:sym typeface="Open Sauce"/>
              </a:rPr>
              <a:t>:</a:t>
            </a:r>
          </a:p>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Crowd density estimation &amp; platform alignment optimization</a:t>
            </a:r>
          </a:p>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Obstacle detection &amp; delay prediction</a:t>
            </a:r>
          </a:p>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Intelligent driver tiredness detection</a:t>
            </a:r>
          </a:p>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Uses AI + sensor fusion + optimization in a single framework</a:t>
            </a:r>
          </a:p>
          <a:p>
            <a:pPr algn="l" marL="398206" indent="-199103" lvl="1">
              <a:lnSpc>
                <a:spcPts val="2545"/>
              </a:lnSpc>
              <a:buFont typeface="Arial"/>
              <a:buChar char="•"/>
            </a:pPr>
            <a:r>
              <a:rPr lang="en-US" sz="1844" spc="180">
                <a:solidFill>
                  <a:srgbClr val="231F20"/>
                </a:solidFill>
                <a:latin typeface="Open Sauce"/>
                <a:ea typeface="Open Sauce"/>
                <a:cs typeface="Open Sauce"/>
                <a:sym typeface="Open Sauce"/>
              </a:rPr>
              <a:t>Focuses on both safety and operational efficiency, not just accident prevention</a:t>
            </a:r>
          </a:p>
          <a:p>
            <a:pPr algn="l">
              <a:lnSpc>
                <a:spcPts val="2545"/>
              </a:lnSpc>
            </a:pPr>
          </a:p>
        </p:txBody>
      </p:sp>
      <p:sp>
        <p:nvSpPr>
          <p:cNvPr name="TextBox 18" id="18"/>
          <p:cNvSpPr txBox="true"/>
          <p:nvPr/>
        </p:nvSpPr>
        <p:spPr>
          <a:xfrm rot="0">
            <a:off x="1300994" y="5400675"/>
            <a:ext cx="5083186" cy="612248"/>
          </a:xfrm>
          <a:prstGeom prst="rect">
            <a:avLst/>
          </a:prstGeom>
        </p:spPr>
        <p:txBody>
          <a:bodyPr anchor="t" rtlCol="false" tIns="0" lIns="0" bIns="0" rIns="0">
            <a:spAutoFit/>
          </a:bodyPr>
          <a:lstStyle/>
          <a:p>
            <a:pPr algn="l">
              <a:lnSpc>
                <a:spcPts val="4341"/>
              </a:lnSpc>
            </a:pPr>
            <a:r>
              <a:rPr lang="en-US" sz="4384" spc="153">
                <a:solidFill>
                  <a:srgbClr val="040506"/>
                </a:solidFill>
                <a:latin typeface="Poppins"/>
                <a:ea typeface="Poppins"/>
                <a:cs typeface="Poppins"/>
                <a:sym typeface="Poppins"/>
              </a:rPr>
              <a:t>Cost Recovery</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TextBox 3" id="3"/>
          <p:cNvSpPr txBox="true"/>
          <p:nvPr/>
        </p:nvSpPr>
        <p:spPr>
          <a:xfrm rot="0">
            <a:off x="3463770" y="3831652"/>
            <a:ext cx="5435861" cy="2071638"/>
          </a:xfrm>
          <a:prstGeom prst="rect">
            <a:avLst/>
          </a:prstGeom>
        </p:spPr>
        <p:txBody>
          <a:bodyPr anchor="t" rtlCol="false" tIns="0" lIns="0" bIns="0" rIns="0">
            <a:spAutoFit/>
          </a:bodyPr>
          <a:lstStyle/>
          <a:p>
            <a:pPr algn="ctr" marL="0" indent="0" lvl="0">
              <a:lnSpc>
                <a:spcPts val="7602"/>
              </a:lnSpc>
            </a:pPr>
            <a:r>
              <a:rPr lang="en-US" sz="8174" spc="882">
                <a:solidFill>
                  <a:srgbClr val="231F20"/>
                </a:solidFill>
                <a:latin typeface="Poppins"/>
                <a:ea typeface="Poppins"/>
                <a:cs typeface="Poppins"/>
                <a:sym typeface="Poppins"/>
              </a:rPr>
              <a:t>THANK YOU..!</a:t>
            </a:r>
          </a:p>
        </p:txBody>
      </p:sp>
      <p:grpSp>
        <p:nvGrpSpPr>
          <p:cNvPr name="Group 4" id="4"/>
          <p:cNvGrpSpPr>
            <a:grpSpLocks noChangeAspect="true"/>
          </p:cNvGrpSpPr>
          <p:nvPr/>
        </p:nvGrpSpPr>
        <p:grpSpPr>
          <a:xfrm rot="0">
            <a:off x="9684427" y="0"/>
            <a:ext cx="8603573" cy="10287000"/>
            <a:chOff x="0" y="0"/>
            <a:chExt cx="8603361" cy="10286746"/>
          </a:xfrm>
        </p:grpSpPr>
        <p:sp>
          <p:nvSpPr>
            <p:cNvPr name="Freeform 5" id="5"/>
            <p:cNvSpPr/>
            <p:nvPr/>
          </p:nvSpPr>
          <p:spPr>
            <a:xfrm flipH="false" flipV="false" rot="0">
              <a:off x="-50" y="-128"/>
              <a:ext cx="8603411" cy="10286874"/>
            </a:xfrm>
            <a:custGeom>
              <a:avLst/>
              <a:gdLst/>
              <a:ahLst/>
              <a:cxnLst/>
              <a:rect r="r" b="b" t="t" l="l"/>
              <a:pathLst>
                <a:path h="10286874" w="8603411">
                  <a:moveTo>
                    <a:pt x="8603411" y="10251441"/>
                  </a:moveTo>
                  <a:cubicBezTo>
                    <a:pt x="8603411" y="10284588"/>
                    <a:pt x="8592743" y="10286874"/>
                    <a:pt x="8564930" y="10286874"/>
                  </a:cubicBezTo>
                  <a:cubicBezTo>
                    <a:pt x="5710350" y="10286239"/>
                    <a:pt x="2855899" y="10286239"/>
                    <a:pt x="1320" y="10286239"/>
                  </a:cubicBezTo>
                  <a:cubicBezTo>
                    <a:pt x="-2744" y="10272396"/>
                    <a:pt x="3606" y="10259823"/>
                    <a:pt x="6527" y="10246996"/>
                  </a:cubicBezTo>
                  <a:cubicBezTo>
                    <a:pt x="132003" y="9685402"/>
                    <a:pt x="257606" y="9123935"/>
                    <a:pt x="383463" y="8562467"/>
                  </a:cubicBezTo>
                  <a:cubicBezTo>
                    <a:pt x="562914" y="7761986"/>
                    <a:pt x="742746" y="6961633"/>
                    <a:pt x="922070" y="6161151"/>
                  </a:cubicBezTo>
                  <a:cubicBezTo>
                    <a:pt x="1143558" y="5172583"/>
                    <a:pt x="1364538" y="4184015"/>
                    <a:pt x="1585899" y="3195574"/>
                  </a:cubicBezTo>
                  <a:cubicBezTo>
                    <a:pt x="1810816" y="2191385"/>
                    <a:pt x="2035860" y="1187323"/>
                    <a:pt x="2261412" y="183261"/>
                  </a:cubicBezTo>
                  <a:cubicBezTo>
                    <a:pt x="2275128" y="122174"/>
                    <a:pt x="2283891" y="59690"/>
                    <a:pt x="2306116" y="635"/>
                  </a:cubicBezTo>
                  <a:cubicBezTo>
                    <a:pt x="4392472" y="635"/>
                    <a:pt x="6478828" y="635"/>
                    <a:pt x="8565184" y="0"/>
                  </a:cubicBezTo>
                  <a:cubicBezTo>
                    <a:pt x="8593505" y="0"/>
                    <a:pt x="8603157" y="3429"/>
                    <a:pt x="8603157" y="35814"/>
                  </a:cubicBezTo>
                  <a:cubicBezTo>
                    <a:pt x="8602395" y="3441066"/>
                    <a:pt x="8602395" y="6846317"/>
                    <a:pt x="8603411" y="10251441"/>
                  </a:cubicBezTo>
                  <a:close/>
                </a:path>
              </a:pathLst>
            </a:custGeom>
            <a:blipFill>
              <a:blip r:embed="rId3"/>
              <a:stretch>
                <a:fillRect l="-2354" t="0" r="-10038" b="0"/>
              </a:stretch>
            </a:blipFill>
          </p:spPr>
        </p:sp>
      </p:grpSp>
      <p:grpSp>
        <p:nvGrpSpPr>
          <p:cNvPr name="Group 6" id="6"/>
          <p:cNvGrpSpPr/>
          <p:nvPr/>
        </p:nvGrpSpPr>
        <p:grpSpPr>
          <a:xfrm rot="826432">
            <a:off x="-18353104" y="-3567159"/>
            <a:ext cx="21026341" cy="12831921"/>
            <a:chOff x="0" y="0"/>
            <a:chExt cx="5537802" cy="3379601"/>
          </a:xfrm>
        </p:grpSpPr>
        <p:sp>
          <p:nvSpPr>
            <p:cNvPr name="Freeform 7" id="7"/>
            <p:cNvSpPr/>
            <p:nvPr/>
          </p:nvSpPr>
          <p:spPr>
            <a:xfrm flipH="false" flipV="false" rot="0">
              <a:off x="0" y="0"/>
              <a:ext cx="5537802" cy="3379601"/>
            </a:xfrm>
            <a:custGeom>
              <a:avLst/>
              <a:gdLst/>
              <a:ahLst/>
              <a:cxnLst/>
              <a:rect r="r" b="b" t="t" l="l"/>
              <a:pathLst>
                <a:path h="3379601" w="5537802">
                  <a:moveTo>
                    <a:pt x="0" y="0"/>
                  </a:moveTo>
                  <a:lnTo>
                    <a:pt x="5537802" y="0"/>
                  </a:lnTo>
                  <a:lnTo>
                    <a:pt x="5537802" y="3379601"/>
                  </a:lnTo>
                  <a:lnTo>
                    <a:pt x="0" y="3379601"/>
                  </a:lnTo>
                  <a:close/>
                </a:path>
              </a:pathLst>
            </a:custGeom>
            <a:solidFill>
              <a:srgbClr val="1C5739"/>
            </a:solidFill>
          </p:spPr>
        </p:sp>
        <p:sp>
          <p:nvSpPr>
            <p:cNvPr name="TextBox 8" id="8"/>
            <p:cNvSpPr txBox="true"/>
            <p:nvPr/>
          </p:nvSpPr>
          <p:spPr>
            <a:xfrm>
              <a:off x="0" y="-19050"/>
              <a:ext cx="5537802" cy="3398651"/>
            </a:xfrm>
            <a:prstGeom prst="rect">
              <a:avLst/>
            </a:prstGeom>
          </p:spPr>
          <p:txBody>
            <a:bodyPr anchor="ctr" rtlCol="false" tIns="50800" lIns="50800" bIns="50800" rIns="50800"/>
            <a:lstStyle/>
            <a:p>
              <a:pPr algn="ctr">
                <a:lnSpc>
                  <a:spcPts val="2859"/>
                </a:lnSpc>
              </a:pPr>
            </a:p>
          </p:txBody>
        </p:sp>
      </p:grpSp>
      <p:grpSp>
        <p:nvGrpSpPr>
          <p:cNvPr name="Group 9" id="9"/>
          <p:cNvGrpSpPr/>
          <p:nvPr/>
        </p:nvGrpSpPr>
        <p:grpSpPr>
          <a:xfrm rot="773821">
            <a:off x="10036024" y="4365564"/>
            <a:ext cx="313833" cy="8482349"/>
            <a:chOff x="0" y="0"/>
            <a:chExt cx="82656" cy="2234034"/>
          </a:xfrm>
        </p:grpSpPr>
        <p:sp>
          <p:nvSpPr>
            <p:cNvPr name="Freeform 10" id="10"/>
            <p:cNvSpPr/>
            <p:nvPr/>
          </p:nvSpPr>
          <p:spPr>
            <a:xfrm flipH="false" flipV="false" rot="0">
              <a:off x="0" y="0"/>
              <a:ext cx="82656" cy="2234034"/>
            </a:xfrm>
            <a:custGeom>
              <a:avLst/>
              <a:gdLst/>
              <a:ahLst/>
              <a:cxnLst/>
              <a:rect r="r" b="b" t="t" l="l"/>
              <a:pathLst>
                <a:path h="2234034" w="82656">
                  <a:moveTo>
                    <a:pt x="0" y="0"/>
                  </a:moveTo>
                  <a:lnTo>
                    <a:pt x="82656" y="0"/>
                  </a:lnTo>
                  <a:lnTo>
                    <a:pt x="82656" y="2234034"/>
                  </a:lnTo>
                  <a:lnTo>
                    <a:pt x="0" y="2234034"/>
                  </a:lnTo>
                  <a:close/>
                </a:path>
              </a:pathLst>
            </a:custGeom>
            <a:solidFill>
              <a:srgbClr val="1C5739"/>
            </a:solidFill>
          </p:spPr>
        </p:sp>
        <p:sp>
          <p:nvSpPr>
            <p:cNvPr name="TextBox 11" id="11"/>
            <p:cNvSpPr txBox="true"/>
            <p:nvPr/>
          </p:nvSpPr>
          <p:spPr>
            <a:xfrm>
              <a:off x="0" y="-19050"/>
              <a:ext cx="82656" cy="2253084"/>
            </a:xfrm>
            <a:prstGeom prst="rect">
              <a:avLst/>
            </a:prstGeom>
          </p:spPr>
          <p:txBody>
            <a:bodyPr anchor="ctr" rtlCol="false" tIns="50800" lIns="50800" bIns="50800" rIns="50800"/>
            <a:lstStyle/>
            <a:p>
              <a:pPr algn="ctr">
                <a:lnSpc>
                  <a:spcPts val="2859"/>
                </a:lnSpc>
              </a:pPr>
            </a:p>
          </p:txBody>
        </p:sp>
      </p:grpSp>
      <p:grpSp>
        <p:nvGrpSpPr>
          <p:cNvPr name="Group 12" id="12"/>
          <p:cNvGrpSpPr/>
          <p:nvPr/>
        </p:nvGrpSpPr>
        <p:grpSpPr>
          <a:xfrm rot="773821">
            <a:off x="3741572" y="-4834013"/>
            <a:ext cx="313833" cy="8482349"/>
            <a:chOff x="0" y="0"/>
            <a:chExt cx="82656" cy="2234034"/>
          </a:xfrm>
        </p:grpSpPr>
        <p:sp>
          <p:nvSpPr>
            <p:cNvPr name="Freeform 13" id="13"/>
            <p:cNvSpPr/>
            <p:nvPr/>
          </p:nvSpPr>
          <p:spPr>
            <a:xfrm flipH="false" flipV="false" rot="0">
              <a:off x="0" y="0"/>
              <a:ext cx="82656" cy="2234034"/>
            </a:xfrm>
            <a:custGeom>
              <a:avLst/>
              <a:gdLst/>
              <a:ahLst/>
              <a:cxnLst/>
              <a:rect r="r" b="b" t="t" l="l"/>
              <a:pathLst>
                <a:path h="2234034" w="82656">
                  <a:moveTo>
                    <a:pt x="0" y="0"/>
                  </a:moveTo>
                  <a:lnTo>
                    <a:pt x="82656" y="0"/>
                  </a:lnTo>
                  <a:lnTo>
                    <a:pt x="82656" y="2234034"/>
                  </a:lnTo>
                  <a:lnTo>
                    <a:pt x="0" y="2234034"/>
                  </a:lnTo>
                  <a:close/>
                </a:path>
              </a:pathLst>
            </a:custGeom>
            <a:solidFill>
              <a:srgbClr val="397D5A"/>
            </a:solidFill>
          </p:spPr>
        </p:sp>
        <p:sp>
          <p:nvSpPr>
            <p:cNvPr name="TextBox 14" id="14"/>
            <p:cNvSpPr txBox="true"/>
            <p:nvPr/>
          </p:nvSpPr>
          <p:spPr>
            <a:xfrm>
              <a:off x="0" y="-19050"/>
              <a:ext cx="82656" cy="2253084"/>
            </a:xfrm>
            <a:prstGeom prst="rect">
              <a:avLst/>
            </a:prstGeom>
          </p:spPr>
          <p:txBody>
            <a:bodyPr anchor="ctr" rtlCol="false" tIns="50800" lIns="50800" bIns="50800" rIns="50800"/>
            <a:lstStyle/>
            <a:p>
              <a:pPr algn="ctr">
                <a:lnSpc>
                  <a:spcPts val="285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DAG9bb04Czg</dc:identifier>
  <dcterms:modified xsi:type="dcterms:W3CDTF">2011-08-01T06:04:30Z</dcterms:modified>
  <cp:revision>1</cp:revision>
  <dc:title>Green minimalist professional Business Proposal Presentation</dc:title>
</cp:coreProperties>
</file>